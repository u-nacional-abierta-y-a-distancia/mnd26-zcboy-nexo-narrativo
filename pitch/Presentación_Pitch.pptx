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60" r:id="rId4"/>
    <p:sldId id="259" r:id="rId5"/>
    <p:sldId id="258" r:id="rId6"/>
    <p:sldId id="257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B83A5A-5B36-0368-E20B-464CB1D68F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B10FE6-9A31-C915-9E80-591275834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07257F-CE40-B343-48C2-EF2B90E85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4FD9-64B9-47FB-89D5-00215E3DDF2D}" type="datetimeFigureOut">
              <a:rPr lang="es-CO" smtClean="0"/>
              <a:t>9/10/2026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464FF5-5E5F-217B-D5D1-D16D86D2B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D6D3CB-EAA5-8ECC-62B5-F9594A3CA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E0D6-AD85-4601-A00C-C98B77500D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8975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07D7B-93E8-14C6-1065-D38D610A4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8B402C-FB0C-8451-AC6F-4DDBC3858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0119D4-794C-9A18-FBD6-3F509ACE4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4FD9-64B9-47FB-89D5-00215E3DDF2D}" type="datetimeFigureOut">
              <a:rPr lang="es-CO" smtClean="0"/>
              <a:t>9/10/2026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D0597E-AD40-A59D-3806-026F9E3BC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F55238-608B-B4E6-07F2-CAD15F8DE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E0D6-AD85-4601-A00C-C98B77500D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1320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B43546-35FB-C1C0-DFB6-49C600BD1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F56EAC0-D2D0-AA70-D777-892021642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7E088-687E-5584-5456-D752C6816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4FD9-64B9-47FB-89D5-00215E3DDF2D}" type="datetimeFigureOut">
              <a:rPr lang="es-CO" smtClean="0"/>
              <a:t>9/10/2026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88DD66-40F0-93A3-22DA-0B872C2A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ADEADC-FBDE-5CF8-A019-43413530B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E0D6-AD85-4601-A00C-C98B77500D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7485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CAF56D-DC94-CD75-47B6-6EF85B21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FA9172-0BF2-3117-6E8D-D31A02242B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ED675FF-4FB5-E384-1741-8746FB5C1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EBB74D-132B-2683-F308-B3A41F310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4FD9-64B9-47FB-89D5-00215E3DDF2D}" type="datetimeFigureOut">
              <a:rPr lang="es-CO" smtClean="0"/>
              <a:t>9/10/2026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48D75F-52C3-DD47-1005-5753164F0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2B91767-7A4F-498D-EDBD-33665637F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E0D6-AD85-4601-A00C-C98B77500D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0981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B17434-C425-0D8E-4F97-E632BBEEC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02EF40-AEDA-22C4-38C2-A93B935A6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DA13747-1DB6-1F4A-C8FD-C3F55AF97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64283B9-2191-CAE2-D460-E618FB25DF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1C20A2C-0B60-1061-42D3-85F1B1DCC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1F47573-DB40-3190-3885-DFF7F2818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4FD9-64B9-47FB-89D5-00215E3DDF2D}" type="datetimeFigureOut">
              <a:rPr lang="es-CO" smtClean="0"/>
              <a:t>9/10/2026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14A68BF-2A99-D8FA-338E-137E6B603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220E466-E0D6-1E81-FC0F-74F5F0069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E0D6-AD85-4601-A00C-C98B77500D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1397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DCFF72-36F1-8D06-B117-92CD83BDE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54E8466-F466-CF21-89CC-48A9C9CBD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4FD9-64B9-47FB-89D5-00215E3DDF2D}" type="datetimeFigureOut">
              <a:rPr lang="es-CO" smtClean="0"/>
              <a:t>9/10/2026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54A9494-545B-71E1-0D05-C340799C9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90D035D-82D5-4987-C689-44F650345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E0D6-AD85-4601-A00C-C98B77500D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586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C872854-B788-29F6-0DBD-99C2B3660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4FD9-64B9-47FB-89D5-00215E3DDF2D}" type="datetimeFigureOut">
              <a:rPr lang="es-CO" smtClean="0"/>
              <a:t>9/10/2026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0E8F55E-14A7-4620-A983-212971118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F8CAB42-1F00-B776-7F64-6FF290139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E0D6-AD85-4601-A00C-C98B77500D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1462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67303-D07C-451F-D50C-DC5DF7746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7F9E88-D214-5EAE-DC50-9D784D892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74D6F33-BE19-85CE-2775-D817B37E1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25EBAF1-716B-EFB4-FAD7-0393EDE7B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4FD9-64B9-47FB-89D5-00215E3DDF2D}" type="datetimeFigureOut">
              <a:rPr lang="es-CO" smtClean="0"/>
              <a:t>9/10/2026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A89BEE-D960-47F6-CE64-EB17725A1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49EC78-06A9-6312-6F79-B9AF617CE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E0D6-AD85-4601-A00C-C98B77500D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7191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9B76D-4237-B690-DD79-C7FD42AD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E7EB0EB-6214-FF80-C6D9-8AE2650EDA7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728202F-57FB-C1A4-3BC4-EEE40BF5D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1C8378C-2AD0-81F1-A99B-E7FCA2D40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4FD9-64B9-47FB-89D5-00215E3DDF2D}" type="datetimeFigureOut">
              <a:rPr lang="es-CO" smtClean="0"/>
              <a:t>9/10/2026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52DE39-0072-7C8E-9CD7-B8B8C18F9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06B7BB-94A1-AFAF-4CCF-9659E6D2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E0D6-AD85-4601-A00C-C98B77500D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5379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4ADDFA-BCB6-8B69-2D7A-93AE70770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66DC586-2AF9-A24A-C607-FF003EA7D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89493F-F994-C8B7-5D3E-364A96EC3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4FD9-64B9-47FB-89D5-00215E3DDF2D}" type="datetimeFigureOut">
              <a:rPr lang="es-CO" smtClean="0"/>
              <a:t>9/10/2026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4A1801-C6D8-A2CB-4D62-103700990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69B480-0DE7-95EB-899C-700AAB62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E0D6-AD85-4601-A00C-C98B77500D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7096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47D055-444D-B23B-2747-C16D3E7F2D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F36CA6-E5B3-875D-7358-CA631FD8A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E1E325-02D8-3ADC-4334-78EB3434F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4FD9-64B9-47FB-89D5-00215E3DDF2D}" type="datetimeFigureOut">
              <a:rPr lang="es-CO" smtClean="0"/>
              <a:t>9/10/2026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9C8BAE-7B8F-16D3-DCBE-78C846B15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B57728-1A38-CA53-9AE0-80EF40E31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E0D6-AD85-4601-A00C-C98B77500D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6890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1A1F4B8-5425-4BFC-B7F0-FDF2B24E7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4D0056-2E27-35B9-2B53-BDB7E5718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804DC2-9E43-81C9-1673-2F437AE609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964FD9-64B9-47FB-89D5-00215E3DDF2D}" type="datetimeFigureOut">
              <a:rPr lang="es-CO" smtClean="0"/>
              <a:t>9/10/2026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C96A87-2DE2-97D1-0A0E-D8A29F0695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B2F3D3-1B98-3341-FC54-0CC7A4EB0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0E0D6-AD85-4601-A00C-C98B77500D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826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DEDC18-0539-3497-1E51-D961EE6C1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F6364A-B358-4BEE-B158-0734D2C93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8202" y="1570814"/>
            <a:ext cx="0" cy="3710227"/>
          </a:xfrm>
          <a:prstGeom prst="line">
            <a:avLst/>
          </a:prstGeom>
          <a:ln w="19050">
            <a:solidFill>
              <a:srgbClr val="FCB2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9A97B2BD-24CA-3054-C406-E744BFDF79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860" y="1130361"/>
            <a:ext cx="7009396" cy="459113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FB1C05A-4C7A-FB71-0E18-C1D6327103EB}"/>
              </a:ext>
            </a:extLst>
          </p:cNvPr>
          <p:cNvSpPr txBox="1"/>
          <p:nvPr/>
        </p:nvSpPr>
        <p:spPr>
          <a:xfrm>
            <a:off x="333278" y="2536698"/>
            <a:ext cx="3243091" cy="220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/>
            <a:r>
              <a:rPr lang="es-CO" sz="2000" b="1" dirty="0">
                <a:latin typeface="Montserrat" panose="00000500000000000000" pitchFamily="50" charset="0"/>
              </a:rPr>
              <a:t>El agua que se hereda </a:t>
            </a:r>
            <a:endParaRPr lang="es-CO" sz="2000" b="1" i="0" dirty="0">
              <a:effectLst/>
              <a:latin typeface="Montserrat" panose="00000500000000000000" pitchFamily="50" charset="0"/>
            </a:endParaRPr>
          </a:p>
          <a:p>
            <a:pPr algn="r" fontAlgn="base"/>
            <a:r>
              <a:rPr lang="es-CO" sz="1100" dirty="0">
                <a:latin typeface="Montserrat Light" panose="00000400000000000000" pitchFamily="50" charset="0"/>
              </a:rPr>
              <a:t>Tipo de Proyecto: Reportaje </a:t>
            </a:r>
            <a:r>
              <a:rPr lang="es-CO" sz="1100" dirty="0" err="1">
                <a:latin typeface="Montserrat Light" panose="00000400000000000000" pitchFamily="50" charset="0"/>
              </a:rPr>
              <a:t>Transmedia</a:t>
            </a:r>
            <a:r>
              <a:rPr lang="es-CO" sz="1100" dirty="0">
                <a:latin typeface="Montserrat Light" panose="00000400000000000000" pitchFamily="50" charset="0"/>
              </a:rPr>
              <a:t> Documental. </a:t>
            </a:r>
            <a:endParaRPr lang="es-CO" sz="1100" b="0" i="0" dirty="0">
              <a:effectLst/>
              <a:latin typeface="Montserrat Light" panose="00000400000000000000" pitchFamily="50" charset="0"/>
            </a:endParaRPr>
          </a:p>
          <a:p>
            <a:pPr algn="r" fontAlgn="base"/>
            <a:r>
              <a:rPr lang="es-CO" sz="1100" dirty="0">
                <a:latin typeface="Montserrat Light" panose="00000400000000000000" pitchFamily="50" charset="0"/>
              </a:rPr>
              <a:t>Curso: ZCBOY. </a:t>
            </a:r>
            <a:endParaRPr lang="es-CO" sz="1100" b="0" i="0" dirty="0">
              <a:effectLst/>
              <a:latin typeface="Montserrat Light" panose="00000400000000000000" pitchFamily="50" charset="0"/>
            </a:endParaRPr>
          </a:p>
          <a:p>
            <a:pPr algn="r" fontAlgn="base"/>
            <a:r>
              <a:rPr lang="es-CO" sz="1100" dirty="0">
                <a:latin typeface="Montserrat Light" panose="00000400000000000000" pitchFamily="50" charset="0"/>
              </a:rPr>
              <a:t>Integrantes: Ana María Salamanca Pedraza, Andrea Ximena Robles Uriza y Julián Camilo Leguizamón Rueda. </a:t>
            </a:r>
            <a:endParaRPr lang="es-CO" sz="1100" b="0" i="0" dirty="0">
              <a:effectLst/>
              <a:latin typeface="Montserrat Light" panose="00000400000000000000" pitchFamily="50" charset="0"/>
            </a:endParaRPr>
          </a:p>
          <a:p>
            <a:pPr algn="r" fontAlgn="base"/>
            <a:r>
              <a:rPr lang="es-CO" sz="1100" dirty="0">
                <a:latin typeface="Montserrat Light" panose="00000400000000000000" pitchFamily="50" charset="0"/>
              </a:rPr>
              <a:t>Colegio Aliado: </a:t>
            </a:r>
            <a:r>
              <a:rPr lang="es-ES" sz="1100" dirty="0">
                <a:latin typeface="Montserrat Light" panose="00000400000000000000" pitchFamily="50" charset="0"/>
              </a:rPr>
              <a:t>Colegio Gonzalo Suárez Rendón (Tunja).</a:t>
            </a:r>
            <a:r>
              <a:rPr lang="es-CO" sz="1100" dirty="0">
                <a:latin typeface="Montserrat Light" panose="00000400000000000000" pitchFamily="50" charset="0"/>
              </a:rPr>
              <a:t> </a:t>
            </a:r>
            <a:endParaRPr lang="es-CO" sz="1100" b="0" i="0" dirty="0">
              <a:effectLst/>
              <a:latin typeface="Montserrat Light" panose="00000400000000000000" pitchFamily="50" charset="0"/>
            </a:endParaRPr>
          </a:p>
          <a:p>
            <a:pPr algn="r" fontAlgn="base"/>
            <a:r>
              <a:rPr lang="es-CO" sz="1100" dirty="0">
                <a:latin typeface="Montserrat Light" panose="00000400000000000000" pitchFamily="50" charset="0"/>
              </a:rPr>
              <a:t>Fecha: 8 de octubre del 2026. </a:t>
            </a:r>
            <a:endParaRPr lang="es-CO" sz="1100" b="0" i="0" dirty="0">
              <a:effectLst/>
              <a:latin typeface="Montserrat Light" panose="00000400000000000000" pitchFamily="50" charset="0"/>
            </a:endParaRPr>
          </a:p>
          <a:p>
            <a:pPr algn="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26353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518B032-C143-29AA-C297-2DDFB8D39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3" r="22583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2F57ACF-D50E-BCAF-4D41-5EBF52245FBB}"/>
              </a:ext>
            </a:extLst>
          </p:cNvPr>
          <p:cNvSpPr txBox="1"/>
          <p:nvPr/>
        </p:nvSpPr>
        <p:spPr>
          <a:xfrm>
            <a:off x="7531610" y="365125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 err="1">
                <a:latin typeface="Montserrat" panose="00000500000000000000" pitchFamily="50" charset="0"/>
                <a:ea typeface="+mj-ea"/>
                <a:cs typeface="+mj-cs"/>
              </a:rPr>
              <a:t>Contexto</a:t>
            </a:r>
            <a:endParaRPr lang="en-US" sz="4000" b="1" dirty="0">
              <a:latin typeface="Montserrat" panose="00000500000000000000" pitchFamily="50" charset="0"/>
              <a:ea typeface="+mj-ea"/>
              <a:cs typeface="+mj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C30F9AB-8BEC-CE78-7EB8-B4A9344C4751}"/>
              </a:ext>
            </a:extLst>
          </p:cNvPr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latin typeface="Montserrat Light" panose="00000400000000000000" pitchFamily="50" charset="0"/>
              </a:rPr>
              <a:t>«</a:t>
            </a:r>
            <a:r>
              <a:rPr lang="en-US" sz="2000" i="1" dirty="0">
                <a:latin typeface="Montserrat Light" panose="00000400000000000000" pitchFamily="50" charset="0"/>
              </a:rPr>
              <a:t>El </a:t>
            </a:r>
            <a:r>
              <a:rPr lang="en-US" sz="2000" i="1" dirty="0" err="1">
                <a:latin typeface="Montserrat Light" panose="00000400000000000000" pitchFamily="50" charset="0"/>
              </a:rPr>
              <a:t>agua</a:t>
            </a:r>
            <a:r>
              <a:rPr lang="en-US" sz="2000" i="1" dirty="0">
                <a:latin typeface="Montserrat Light" panose="00000400000000000000" pitchFamily="50" charset="0"/>
              </a:rPr>
              <a:t> </a:t>
            </a:r>
            <a:r>
              <a:rPr lang="en-US" sz="2000" i="1" dirty="0" err="1">
                <a:latin typeface="Montserrat Light" panose="00000400000000000000" pitchFamily="50" charset="0"/>
              </a:rPr>
              <a:t>que</a:t>
            </a:r>
            <a:r>
              <a:rPr lang="en-US" sz="2000" i="1" dirty="0">
                <a:latin typeface="Montserrat Light" panose="00000400000000000000" pitchFamily="50" charset="0"/>
              </a:rPr>
              <a:t> se </a:t>
            </a:r>
            <a:r>
              <a:rPr lang="en-US" sz="2000" i="1" dirty="0" err="1">
                <a:latin typeface="Montserrat Light" panose="00000400000000000000" pitchFamily="50" charset="0"/>
              </a:rPr>
              <a:t>hereda</a:t>
            </a:r>
            <a:r>
              <a:rPr lang="en-US" sz="2000" dirty="0">
                <a:latin typeface="Montserrat Light" panose="00000400000000000000" pitchFamily="50" charset="0"/>
              </a:rPr>
              <a:t> es </a:t>
            </a:r>
            <a:r>
              <a:rPr lang="en-US" sz="2000" dirty="0" err="1">
                <a:latin typeface="Montserrat Light" panose="00000400000000000000" pitchFamily="50" charset="0"/>
              </a:rPr>
              <a:t>una</a:t>
            </a:r>
            <a:r>
              <a:rPr lang="en-US" sz="2000" dirty="0">
                <a:latin typeface="Montserrat Light" panose="00000400000000000000" pitchFamily="50" charset="0"/>
              </a:rPr>
              <a:t> </a:t>
            </a:r>
            <a:r>
              <a:rPr lang="en-US" sz="2000" dirty="0" err="1">
                <a:latin typeface="Montserrat Light" panose="00000400000000000000" pitchFamily="50" charset="0"/>
              </a:rPr>
              <a:t>iniciativa</a:t>
            </a:r>
            <a:r>
              <a:rPr lang="en-US" sz="2000" dirty="0">
                <a:latin typeface="Montserrat Light" panose="00000400000000000000" pitchFamily="50" charset="0"/>
              </a:rPr>
              <a:t> transmedia documental </a:t>
            </a:r>
            <a:r>
              <a:rPr lang="en-US" sz="2000" dirty="0" err="1">
                <a:latin typeface="Montserrat Light" panose="00000400000000000000" pitchFamily="50" charset="0"/>
              </a:rPr>
              <a:t>que</a:t>
            </a:r>
            <a:r>
              <a:rPr lang="en-US" sz="2000" dirty="0">
                <a:latin typeface="Montserrat Light" panose="00000400000000000000" pitchFamily="50" charset="0"/>
              </a:rPr>
              <a:t> </a:t>
            </a:r>
            <a:r>
              <a:rPr lang="en-US" sz="2000" dirty="0" err="1">
                <a:latin typeface="Montserrat Light" panose="00000400000000000000" pitchFamily="50" charset="0"/>
              </a:rPr>
              <a:t>transforma</a:t>
            </a:r>
            <a:r>
              <a:rPr lang="en-US" sz="2000" dirty="0">
                <a:latin typeface="Montserrat Light" panose="00000400000000000000" pitchFamily="50" charset="0"/>
              </a:rPr>
              <a:t> </a:t>
            </a:r>
            <a:r>
              <a:rPr lang="en-US" sz="2000" dirty="0" err="1">
                <a:latin typeface="Montserrat Light" panose="00000400000000000000" pitchFamily="50" charset="0"/>
              </a:rPr>
              <a:t>los</a:t>
            </a:r>
            <a:r>
              <a:rPr lang="en-US" sz="2000" dirty="0">
                <a:latin typeface="Montserrat Light" panose="00000400000000000000" pitchFamily="50" charset="0"/>
              </a:rPr>
              <a:t> </a:t>
            </a:r>
            <a:r>
              <a:rPr lang="en-US" sz="2000" dirty="0" err="1">
                <a:latin typeface="Montserrat Light" panose="00000400000000000000" pitchFamily="50" charset="0"/>
              </a:rPr>
              <a:t>recuerdos</a:t>
            </a:r>
            <a:r>
              <a:rPr lang="en-US" sz="2000" dirty="0">
                <a:latin typeface="Montserrat Light" panose="00000400000000000000" pitchFamily="50" charset="0"/>
              </a:rPr>
              <a:t> del </a:t>
            </a:r>
            <a:r>
              <a:rPr lang="en-US" sz="2000" dirty="0" err="1">
                <a:latin typeface="Montserrat Light" panose="00000400000000000000" pitchFamily="50" charset="0"/>
              </a:rPr>
              <a:t>apagón</a:t>
            </a:r>
            <a:r>
              <a:rPr lang="en-US" sz="2000" dirty="0">
                <a:latin typeface="Montserrat Light" panose="00000400000000000000" pitchFamily="50" charset="0"/>
              </a:rPr>
              <a:t> de 1992 </a:t>
            </a:r>
            <a:r>
              <a:rPr lang="en-US" sz="2000" dirty="0" err="1">
                <a:latin typeface="Montserrat Light" panose="00000400000000000000" pitchFamily="50" charset="0"/>
              </a:rPr>
              <a:t>en</a:t>
            </a:r>
            <a:r>
              <a:rPr lang="en-US" sz="2000" dirty="0">
                <a:latin typeface="Montserrat Light" panose="00000400000000000000" pitchFamily="50" charset="0"/>
              </a:rPr>
              <a:t> </a:t>
            </a:r>
            <a:r>
              <a:rPr lang="en-US" sz="2000" dirty="0" err="1">
                <a:latin typeface="Montserrat Light" panose="00000400000000000000" pitchFamily="50" charset="0"/>
              </a:rPr>
              <a:t>retos</a:t>
            </a:r>
            <a:r>
              <a:rPr lang="en-US" sz="2000" dirty="0">
                <a:latin typeface="Montserrat Light" panose="00000400000000000000" pitchFamily="50" charset="0"/>
              </a:rPr>
              <a:t> reales de </a:t>
            </a:r>
            <a:r>
              <a:rPr lang="en-US" sz="2000" dirty="0" err="1">
                <a:latin typeface="Montserrat Light" panose="00000400000000000000" pitchFamily="50" charset="0"/>
              </a:rPr>
              <a:t>ahorro</a:t>
            </a:r>
            <a:r>
              <a:rPr lang="en-US" sz="2000" dirty="0">
                <a:latin typeface="Montserrat Light" panose="00000400000000000000" pitchFamily="50" charset="0"/>
              </a:rPr>
              <a:t> de </a:t>
            </a:r>
            <a:r>
              <a:rPr lang="en-US" sz="2000" dirty="0" err="1">
                <a:latin typeface="Montserrat Light" panose="00000400000000000000" pitchFamily="50" charset="0"/>
              </a:rPr>
              <a:t>agua</a:t>
            </a:r>
            <a:r>
              <a:rPr lang="en-US" sz="2000" dirty="0">
                <a:latin typeface="Montserrat Light" panose="00000400000000000000" pitchFamily="50" charset="0"/>
              </a:rPr>
              <a:t> y </a:t>
            </a:r>
            <a:r>
              <a:rPr lang="en-US" sz="2000" dirty="0" err="1">
                <a:latin typeface="Montserrat Light" panose="00000400000000000000" pitchFamily="50" charset="0"/>
              </a:rPr>
              <a:t>energía</a:t>
            </a:r>
            <a:r>
              <a:rPr lang="en-US" sz="2000" dirty="0">
                <a:latin typeface="Montserrat Light" panose="00000400000000000000" pitchFamily="50" charset="0"/>
              </a:rPr>
              <a:t> para </a:t>
            </a:r>
            <a:r>
              <a:rPr lang="en-US" sz="2000" dirty="0" err="1">
                <a:latin typeface="Montserrat Light" panose="00000400000000000000" pitchFamily="50" charset="0"/>
              </a:rPr>
              <a:t>enfrentar</a:t>
            </a:r>
            <a:r>
              <a:rPr lang="en-US" sz="2000" dirty="0">
                <a:latin typeface="Montserrat Light" panose="00000400000000000000" pitchFamily="50" charset="0"/>
              </a:rPr>
              <a:t> la crisis </a:t>
            </a:r>
            <a:r>
              <a:rPr lang="en-US" sz="2000" dirty="0" err="1">
                <a:latin typeface="Montserrat Light" panose="00000400000000000000" pitchFamily="50" charset="0"/>
              </a:rPr>
              <a:t>climática</a:t>
            </a:r>
            <a:r>
              <a:rPr lang="en-US" sz="2000" dirty="0">
                <a:latin typeface="Montserrat Light" panose="00000400000000000000" pitchFamily="50" charset="0"/>
              </a:rPr>
              <a:t> actual </a:t>
            </a:r>
            <a:r>
              <a:rPr lang="en-US" sz="2000" dirty="0" err="1">
                <a:latin typeface="Montserrat Light" panose="00000400000000000000" pitchFamily="50" charset="0"/>
              </a:rPr>
              <a:t>desde</a:t>
            </a:r>
            <a:r>
              <a:rPr lang="en-US" sz="2000" dirty="0">
                <a:latin typeface="Montserrat Light" panose="00000400000000000000" pitchFamily="50" charset="0"/>
              </a:rPr>
              <a:t> las aulas.»</a:t>
            </a:r>
          </a:p>
        </p:txBody>
      </p:sp>
    </p:spTree>
    <p:extLst>
      <p:ext uri="{BB962C8B-B14F-4D97-AF65-F5344CB8AC3E}">
        <p14:creationId xmlns:p14="http://schemas.microsoft.com/office/powerpoint/2010/main" val="306800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55D5D1-D9B2-B934-5836-CAB951491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EE30701-64E3-F56B-BB80-C736EB697F08}"/>
              </a:ext>
            </a:extLst>
          </p:cNvPr>
          <p:cNvSpPr txBox="1"/>
          <p:nvPr/>
        </p:nvSpPr>
        <p:spPr>
          <a:xfrm>
            <a:off x="5894962" y="479493"/>
            <a:ext cx="54588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Montserrat" panose="00000500000000000000" pitchFamily="50" charset="0"/>
                <a:ea typeface="+mj-ea"/>
                <a:cs typeface="+mj-cs"/>
              </a:rPr>
              <a:t>¿Por </a:t>
            </a:r>
            <a:r>
              <a:rPr lang="en-US" sz="4400" b="1" kern="1200" dirty="0" err="1">
                <a:solidFill>
                  <a:schemeClr val="tx1"/>
                </a:solidFill>
                <a:latin typeface="Montserrat" panose="00000500000000000000" pitchFamily="50" charset="0"/>
                <a:ea typeface="+mj-ea"/>
                <a:cs typeface="+mj-cs"/>
              </a:rPr>
              <a:t>qué</a:t>
            </a:r>
            <a:r>
              <a:rPr lang="en-US" sz="4400" b="1" kern="1200" dirty="0">
                <a:solidFill>
                  <a:schemeClr val="tx1"/>
                </a:solidFill>
                <a:latin typeface="Montserrat" panose="00000500000000000000" pitchFamily="50" charset="0"/>
                <a:ea typeface="+mj-ea"/>
                <a:cs typeface="+mj-cs"/>
              </a:rPr>
              <a:t> es </a:t>
            </a:r>
            <a:r>
              <a:rPr lang="en-US" sz="4400" b="1" kern="1200" dirty="0" err="1">
                <a:solidFill>
                  <a:schemeClr val="tx1"/>
                </a:solidFill>
                <a:latin typeface="Montserrat" panose="00000500000000000000" pitchFamily="50" charset="0"/>
                <a:ea typeface="+mj-ea"/>
                <a:cs typeface="+mj-cs"/>
              </a:rPr>
              <a:t>posible</a:t>
            </a:r>
            <a:r>
              <a:rPr lang="en-US" sz="4400" b="1" kern="1200" dirty="0">
                <a:solidFill>
                  <a:schemeClr val="tx1"/>
                </a:solidFill>
                <a:latin typeface="Montserrat" panose="00000500000000000000" pitchFamily="50" charset="0"/>
                <a:ea typeface="+mj-ea"/>
                <a:cs typeface="+mj-cs"/>
              </a:rPr>
              <a:t>?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330CEE8-737A-509A-4128-5D7DD3184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823079"/>
            <a:ext cx="4777381" cy="5042097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DF75E54-83A2-EC80-1725-5E98DDC2C4F4}"/>
              </a:ext>
            </a:extLst>
          </p:cNvPr>
          <p:cNvSpPr txBox="1"/>
          <p:nvPr/>
        </p:nvSpPr>
        <p:spPr>
          <a:xfrm>
            <a:off x="5894962" y="1984443"/>
            <a:ext cx="5458838" cy="41925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R="0" lvl="0">
              <a:lnSpc>
                <a:spcPct val="90000"/>
              </a:lnSpc>
              <a:spcAft>
                <a:spcPts val="600"/>
              </a:spcAft>
            </a:pPr>
            <a:r>
              <a:rPr lang="en-US" b="1" dirty="0" err="1">
                <a:effectLst/>
                <a:latin typeface="Montserrat" panose="00000500000000000000" pitchFamily="50" charset="0"/>
              </a:rPr>
              <a:t>Viabilidad</a:t>
            </a:r>
            <a:r>
              <a:rPr lang="en-US" b="1" dirty="0">
                <a:effectLst/>
                <a:latin typeface="Montserrat" panose="00000500000000000000" pitchFamily="50" charset="0"/>
              </a:rPr>
              <a:t> </a:t>
            </a:r>
            <a:r>
              <a:rPr lang="en-US" b="1" dirty="0" err="1">
                <a:effectLst/>
                <a:latin typeface="Montserrat" panose="00000500000000000000" pitchFamily="50" charset="0"/>
              </a:rPr>
              <a:t>Institucional</a:t>
            </a:r>
            <a:r>
              <a:rPr lang="en-US" b="1" dirty="0">
                <a:effectLst/>
                <a:latin typeface="Montserrat" panose="00000500000000000000" pitchFamily="50" charset="0"/>
              </a:rPr>
              <a:t> y </a:t>
            </a:r>
            <a:r>
              <a:rPr lang="en-US" b="1" dirty="0" err="1">
                <a:effectLst/>
                <a:latin typeface="Montserrat" panose="00000500000000000000" pitchFamily="50" charset="0"/>
              </a:rPr>
              <a:t>Pedagógica</a:t>
            </a:r>
            <a:endParaRPr lang="en-US" b="1" dirty="0">
              <a:effectLst/>
              <a:latin typeface="Montserrat" panose="00000500000000000000" pitchFamily="50" charset="0"/>
            </a:endParaRPr>
          </a:p>
          <a:p>
            <a:pPr marL="0" marR="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Montserrat Light" panose="00000400000000000000" pitchFamily="50" charset="0"/>
              </a:rPr>
              <a:t>Se integra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directamente</a:t>
            </a:r>
            <a:r>
              <a:rPr lang="en-US" dirty="0">
                <a:effectLst/>
                <a:latin typeface="Montserrat Light" panose="00000400000000000000" pitchFamily="50" charset="0"/>
              </a:rPr>
              <a:t> al Proyecto Ambiental Escolar (PRAE) del colegio y se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proyecta</a:t>
            </a:r>
            <a:r>
              <a:rPr lang="en-US" dirty="0">
                <a:effectLst/>
                <a:latin typeface="Montserrat Light" panose="00000400000000000000" pitchFamily="50" charset="0"/>
              </a:rPr>
              <a:t>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como</a:t>
            </a:r>
            <a:r>
              <a:rPr lang="en-US" dirty="0">
                <a:effectLst/>
                <a:latin typeface="Montserrat Light" panose="00000400000000000000" pitchFamily="50" charset="0"/>
              </a:rPr>
              <a:t> horas de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servicio</a:t>
            </a:r>
            <a:r>
              <a:rPr lang="en-US" dirty="0">
                <a:effectLst/>
                <a:latin typeface="Montserrat Light" panose="00000400000000000000" pitchFamily="50" charset="0"/>
              </a:rPr>
              <a:t> social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obligatorio</a:t>
            </a:r>
            <a:r>
              <a:rPr lang="en-US" dirty="0">
                <a:effectLst/>
                <a:latin typeface="Montserrat Light" panose="00000400000000000000" pitchFamily="50" charset="0"/>
              </a:rPr>
              <a:t>,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contando</a:t>
            </a:r>
            <a:r>
              <a:rPr lang="en-US" dirty="0">
                <a:effectLst/>
                <a:latin typeface="Montserrat Light" panose="00000400000000000000" pitchFamily="50" charset="0"/>
              </a:rPr>
              <a:t> con el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respaldo</a:t>
            </a:r>
            <a:r>
              <a:rPr lang="en-US" dirty="0">
                <a:effectLst/>
                <a:latin typeface="Montserrat Light" panose="00000400000000000000" pitchFamily="50" charset="0"/>
              </a:rPr>
              <a:t> de la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institución</a:t>
            </a:r>
            <a:r>
              <a:rPr lang="en-US" dirty="0">
                <a:effectLst/>
                <a:latin typeface="Montserrat Light" panose="00000400000000000000" pitchFamily="50" charset="0"/>
              </a:rPr>
              <a:t>. </a:t>
            </a:r>
          </a:p>
          <a:p>
            <a:pPr marR="0" lvl="0">
              <a:lnSpc>
                <a:spcPct val="90000"/>
              </a:lnSpc>
              <a:spcAft>
                <a:spcPts val="600"/>
              </a:spcAft>
            </a:pPr>
            <a:r>
              <a:rPr lang="en-US" b="1" dirty="0" err="1">
                <a:effectLst/>
                <a:latin typeface="Montserrat" panose="00000500000000000000" pitchFamily="50" charset="0"/>
              </a:rPr>
              <a:t>Viabilidad</a:t>
            </a:r>
            <a:r>
              <a:rPr lang="en-US" b="1" dirty="0">
                <a:effectLst/>
                <a:latin typeface="Montserrat" panose="00000500000000000000" pitchFamily="50" charset="0"/>
              </a:rPr>
              <a:t> Técnica y </a:t>
            </a:r>
            <a:r>
              <a:rPr lang="en-US" b="1" dirty="0" err="1">
                <a:effectLst/>
                <a:latin typeface="Montserrat" panose="00000500000000000000" pitchFamily="50" charset="0"/>
              </a:rPr>
              <a:t>Operativa</a:t>
            </a:r>
            <a:endParaRPr lang="en-US" b="1" dirty="0">
              <a:effectLst/>
              <a:latin typeface="Montserrat" panose="00000500000000000000" pitchFamily="50" charset="0"/>
            </a:endParaRPr>
          </a:p>
          <a:p>
            <a:pPr marL="0" marR="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Montserrat Light" panose="00000400000000000000" pitchFamily="50" charset="0"/>
              </a:rPr>
              <a:t>Utiliza</a:t>
            </a:r>
            <a:r>
              <a:rPr lang="en-US" dirty="0">
                <a:effectLst/>
                <a:latin typeface="Montserrat Light" panose="00000400000000000000" pitchFamily="50" charset="0"/>
              </a:rPr>
              <a:t>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herramientas</a:t>
            </a:r>
            <a:r>
              <a:rPr lang="en-US" dirty="0">
                <a:effectLst/>
                <a:latin typeface="Montserrat Light" panose="00000400000000000000" pitchFamily="50" charset="0"/>
              </a:rPr>
              <a:t> y redes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que</a:t>
            </a:r>
            <a:r>
              <a:rPr lang="en-US" dirty="0">
                <a:effectLst/>
                <a:latin typeface="Montserrat Light" panose="00000400000000000000" pitchFamily="50" charset="0"/>
              </a:rPr>
              <a:t>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los</a:t>
            </a:r>
            <a:r>
              <a:rPr lang="en-US" dirty="0">
                <a:effectLst/>
                <a:latin typeface="Montserrat Light" panose="00000400000000000000" pitchFamily="50" charset="0"/>
              </a:rPr>
              <a:t>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estudiantes</a:t>
            </a:r>
            <a:r>
              <a:rPr lang="en-US" dirty="0">
                <a:effectLst/>
                <a:latin typeface="Montserrat Light" panose="00000400000000000000" pitchFamily="50" charset="0"/>
              </a:rPr>
              <a:t> y colegios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ya</a:t>
            </a:r>
            <a:r>
              <a:rPr lang="en-US" dirty="0">
                <a:effectLst/>
                <a:latin typeface="Montserrat Light" panose="00000400000000000000" pitchFamily="50" charset="0"/>
              </a:rPr>
              <a:t>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manejan</a:t>
            </a:r>
            <a:r>
              <a:rPr lang="en-US" dirty="0">
                <a:effectLst/>
                <a:latin typeface="Montserrat Light" panose="00000400000000000000" pitchFamily="50" charset="0"/>
              </a:rPr>
              <a:t> a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diario</a:t>
            </a:r>
            <a:r>
              <a:rPr lang="en-US" dirty="0">
                <a:effectLst/>
                <a:latin typeface="Montserrat Light" panose="00000400000000000000" pitchFamily="50" charset="0"/>
              </a:rPr>
              <a:t> (WhatsApp, Drive, TikTok, Spotify), sin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requerir</a:t>
            </a:r>
            <a:r>
              <a:rPr lang="en-US" dirty="0">
                <a:effectLst/>
                <a:latin typeface="Montserrat Light" panose="00000400000000000000" pitchFamily="50" charset="0"/>
              </a:rPr>
              <a:t>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presupuestos</a:t>
            </a:r>
            <a:r>
              <a:rPr lang="en-US" dirty="0">
                <a:effectLst/>
                <a:latin typeface="Montserrat Light" panose="00000400000000000000" pitchFamily="50" charset="0"/>
              </a:rPr>
              <a:t>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ni</a:t>
            </a:r>
            <a:r>
              <a:rPr lang="en-US" dirty="0">
                <a:effectLst/>
                <a:latin typeface="Montserrat Light" panose="00000400000000000000" pitchFamily="50" charset="0"/>
              </a:rPr>
              <a:t>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infraestructura</a:t>
            </a:r>
            <a:r>
              <a:rPr lang="en-US" dirty="0">
                <a:effectLst/>
                <a:latin typeface="Montserrat Light" panose="00000400000000000000" pitchFamily="50" charset="0"/>
              </a:rPr>
              <a:t>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compleja</a:t>
            </a:r>
            <a:r>
              <a:rPr lang="en-US" dirty="0">
                <a:effectLst/>
                <a:latin typeface="Montserrat Light" panose="00000400000000000000" pitchFamily="50" charset="0"/>
              </a:rPr>
              <a:t>. </a:t>
            </a:r>
          </a:p>
          <a:p>
            <a:pPr marR="0" lvl="0">
              <a:lnSpc>
                <a:spcPct val="90000"/>
              </a:lnSpc>
              <a:spcAft>
                <a:spcPts val="600"/>
              </a:spcAft>
            </a:pPr>
            <a:r>
              <a:rPr lang="en-US" b="1" dirty="0" err="1">
                <a:effectLst/>
                <a:latin typeface="Montserrat" panose="00000500000000000000" pitchFamily="50" charset="0"/>
              </a:rPr>
              <a:t>Viabilidad</a:t>
            </a:r>
            <a:r>
              <a:rPr lang="en-US" b="1" dirty="0">
                <a:effectLst/>
                <a:latin typeface="Montserrat" panose="00000500000000000000" pitchFamily="50" charset="0"/>
              </a:rPr>
              <a:t> </a:t>
            </a:r>
            <a:r>
              <a:rPr lang="en-US" b="1" dirty="0" err="1">
                <a:effectLst/>
                <a:latin typeface="Montserrat" panose="00000500000000000000" pitchFamily="50" charset="0"/>
              </a:rPr>
              <a:t>Metodológica</a:t>
            </a:r>
            <a:r>
              <a:rPr lang="en-US" b="1" dirty="0">
                <a:effectLst/>
                <a:latin typeface="Montserrat" panose="00000500000000000000" pitchFamily="50" charset="0"/>
              </a:rPr>
              <a:t> y </a:t>
            </a:r>
            <a:r>
              <a:rPr lang="en-US" b="1" dirty="0" err="1">
                <a:effectLst/>
                <a:latin typeface="Montserrat" panose="00000500000000000000" pitchFamily="50" charset="0"/>
              </a:rPr>
              <a:t>Prototipada</a:t>
            </a:r>
            <a:endParaRPr lang="en-US" b="1" dirty="0">
              <a:effectLst/>
              <a:latin typeface="Montserrat" panose="00000500000000000000" pitchFamily="50" charset="0"/>
            </a:endParaRPr>
          </a:p>
          <a:p>
            <a:pPr marL="0" marR="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Montserrat Light" panose="00000400000000000000" pitchFamily="50" charset="0"/>
              </a:rPr>
              <a:t>Cuenta</a:t>
            </a:r>
            <a:r>
              <a:rPr lang="en-US" dirty="0">
                <a:effectLst/>
                <a:latin typeface="Montserrat Light" panose="00000400000000000000" pitchFamily="50" charset="0"/>
              </a:rPr>
              <a:t> con sus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fases</a:t>
            </a:r>
            <a:r>
              <a:rPr lang="en-US" dirty="0">
                <a:effectLst/>
                <a:latin typeface="Montserrat Light" panose="00000400000000000000" pitchFamily="50" charset="0"/>
              </a:rPr>
              <a:t>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probadas</a:t>
            </a:r>
            <a:r>
              <a:rPr lang="en-US" dirty="0">
                <a:effectLst/>
                <a:latin typeface="Montserrat Light" panose="00000400000000000000" pitchFamily="50" charset="0"/>
              </a:rPr>
              <a:t>: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ya</a:t>
            </a:r>
            <a:r>
              <a:rPr lang="en-US" dirty="0">
                <a:effectLst/>
                <a:latin typeface="Montserrat Light" panose="00000400000000000000" pitchFamily="50" charset="0"/>
              </a:rPr>
              <a:t>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tenemos</a:t>
            </a:r>
            <a:r>
              <a:rPr lang="en-US" dirty="0">
                <a:effectLst/>
                <a:latin typeface="Montserrat Light" panose="00000400000000000000" pitchFamily="50" charset="0"/>
              </a:rPr>
              <a:t> la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guía</a:t>
            </a:r>
            <a:r>
              <a:rPr lang="en-US" dirty="0">
                <a:effectLst/>
                <a:latin typeface="Montserrat Light" panose="00000400000000000000" pitchFamily="50" charset="0"/>
              </a:rPr>
              <a:t> de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entrevista</a:t>
            </a:r>
            <a:r>
              <a:rPr lang="en-US" dirty="0">
                <a:effectLst/>
                <a:latin typeface="Montserrat Light" panose="00000400000000000000" pitchFamily="50" charset="0"/>
              </a:rPr>
              <a:t>,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los</a:t>
            </a:r>
            <a:r>
              <a:rPr lang="en-US" dirty="0">
                <a:effectLst/>
                <a:latin typeface="Montserrat Light" panose="00000400000000000000" pitchFamily="50" charset="0"/>
              </a:rPr>
              <a:t>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formatos</a:t>
            </a:r>
            <a:r>
              <a:rPr lang="en-US" dirty="0">
                <a:effectLst/>
                <a:latin typeface="Montserrat Light" panose="00000400000000000000" pitchFamily="50" charset="0"/>
              </a:rPr>
              <a:t> de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consentimiento</a:t>
            </a:r>
            <a:r>
              <a:rPr lang="en-US" dirty="0">
                <a:effectLst/>
                <a:latin typeface="Montserrat Light" panose="00000400000000000000" pitchFamily="50" charset="0"/>
              </a:rPr>
              <a:t>, la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estructura</a:t>
            </a:r>
            <a:r>
              <a:rPr lang="en-US" dirty="0">
                <a:effectLst/>
                <a:latin typeface="Montserrat Light" panose="00000400000000000000" pitchFamily="50" charset="0"/>
              </a:rPr>
              <a:t> del framework web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en</a:t>
            </a:r>
            <a:r>
              <a:rPr lang="en-US" dirty="0">
                <a:effectLst/>
                <a:latin typeface="Montserrat Light" panose="00000400000000000000" pitchFamily="50" charset="0"/>
              </a:rPr>
              <a:t> JavaScript y el primer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prototipo</a:t>
            </a:r>
            <a:r>
              <a:rPr lang="en-US" dirty="0">
                <a:effectLst/>
                <a:latin typeface="Montserrat Light" panose="00000400000000000000" pitchFamily="50" charset="0"/>
              </a:rPr>
              <a:t> de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historieta</a:t>
            </a:r>
            <a:r>
              <a:rPr lang="en-US" dirty="0">
                <a:effectLst/>
                <a:latin typeface="Montserrat Light" panose="00000400000000000000" pitchFamily="50" charset="0"/>
              </a:rPr>
              <a:t> e </a:t>
            </a:r>
            <a:r>
              <a:rPr lang="en-US" dirty="0" err="1">
                <a:effectLst/>
                <a:latin typeface="Montserrat Light" panose="00000400000000000000" pitchFamily="50" charset="0"/>
              </a:rPr>
              <a:t>historia</a:t>
            </a:r>
            <a:r>
              <a:rPr lang="en-US" dirty="0">
                <a:effectLst/>
                <a:latin typeface="Montserrat Light" panose="00000400000000000000" pitchFamily="50" charset="0"/>
              </a:rPr>
              <a:t> real. </a:t>
            </a:r>
          </a:p>
        </p:txBody>
      </p:sp>
    </p:spTree>
    <p:extLst>
      <p:ext uri="{BB962C8B-B14F-4D97-AF65-F5344CB8AC3E}">
        <p14:creationId xmlns:p14="http://schemas.microsoft.com/office/powerpoint/2010/main" val="3277415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942385-98A7-52F4-9D88-5D68F8696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C889A59-60B0-7CE4-3D6F-ABE82AA2E2BA}"/>
              </a:ext>
            </a:extLst>
          </p:cNvPr>
          <p:cNvSpPr txBox="1"/>
          <p:nvPr/>
        </p:nvSpPr>
        <p:spPr>
          <a:xfrm>
            <a:off x="7531610" y="365125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latin typeface="Montserrat" panose="00000500000000000000" pitchFamily="50" charset="0"/>
                <a:ea typeface="+mj-ea"/>
                <a:cs typeface="+mj-cs"/>
              </a:rPr>
              <a:t>¿Cómo se ve en Acción?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AEE8752-C40F-7997-F90E-573504888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9" r="12678" b="-1"/>
          <a:stretch>
            <a:fillRect/>
          </a:stretch>
        </p:blipFill>
        <p:spPr>
          <a:xfrm>
            <a:off x="1" y="10"/>
            <a:ext cx="6936390" cy="685799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B93CEFF-8F47-885C-562E-2998EE9006EA}"/>
              </a:ext>
            </a:extLst>
          </p:cNvPr>
          <p:cNvSpPr txBox="1"/>
          <p:nvPr/>
        </p:nvSpPr>
        <p:spPr>
          <a:xfrm>
            <a:off x="7531610" y="2045581"/>
            <a:ext cx="4288915" cy="33928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>
              <a:lnSpc>
                <a:spcPct val="90000"/>
              </a:lnSpc>
              <a:spcAft>
                <a:spcPts val="600"/>
              </a:spcAft>
            </a:pPr>
            <a:r>
              <a:rPr lang="en-US" sz="1100" b="1" dirty="0">
                <a:effectLst/>
                <a:latin typeface="Montserrat" panose="00000500000000000000" pitchFamily="50" charset="0"/>
              </a:rPr>
              <a:t>1. En el Hogar: La </a:t>
            </a:r>
            <a:r>
              <a:rPr lang="en-US" sz="1100" b="1" dirty="0" err="1">
                <a:effectLst/>
                <a:latin typeface="Montserrat" panose="00000500000000000000" pitchFamily="50" charset="0"/>
              </a:rPr>
              <a:t>Conexión</a:t>
            </a:r>
            <a:r>
              <a:rPr lang="en-US" sz="1100" b="1" dirty="0">
                <a:effectLst/>
                <a:latin typeface="Montserrat" panose="00000500000000000000" pitchFamily="50" charset="0"/>
              </a:rPr>
              <a:t> Familiar</a:t>
            </a:r>
          </a:p>
          <a:p>
            <a:pPr marL="0" marR="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 err="1">
                <a:effectLst/>
                <a:latin typeface="Montserrat Light" panose="00000400000000000000" pitchFamily="50" charset="0"/>
              </a:rPr>
              <a:t>Acción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: Los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estudiantes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entrevistan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a sus abuelos o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familiares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sobre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el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apagón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del 92 (Lado A) y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juntos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asumen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la «Hora del 92» (1 hora a la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semana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en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familia con luces y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aparatos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apagados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conversando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) y la «Ducha de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una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Canción»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juntando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el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agua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fría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en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un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balde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. </a:t>
            </a:r>
          </a:p>
          <a:p>
            <a:pPr marR="0">
              <a:lnSpc>
                <a:spcPct val="90000"/>
              </a:lnSpc>
              <a:spcAft>
                <a:spcPts val="600"/>
              </a:spcAft>
            </a:pPr>
            <a:r>
              <a:rPr lang="en-US" sz="1100" b="1" dirty="0">
                <a:effectLst/>
                <a:latin typeface="Montserrat" panose="00000500000000000000" pitchFamily="50" charset="0"/>
              </a:rPr>
              <a:t>2. En la Plataforma Web: La Comunidad de </a:t>
            </a:r>
            <a:r>
              <a:rPr lang="en-US" sz="1100" b="1" dirty="0" err="1">
                <a:effectLst/>
                <a:latin typeface="Montserrat" panose="00000500000000000000" pitchFamily="50" charset="0"/>
              </a:rPr>
              <a:t>Historias</a:t>
            </a:r>
            <a:endParaRPr lang="en-US" sz="1100" b="1" dirty="0">
              <a:effectLst/>
              <a:latin typeface="Montserrat" panose="00000500000000000000" pitchFamily="50" charset="0"/>
            </a:endParaRPr>
          </a:p>
          <a:p>
            <a:pPr marL="0" marR="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 err="1">
                <a:effectLst/>
                <a:latin typeface="Montserrat Light" panose="00000400000000000000" pitchFamily="50" charset="0"/>
              </a:rPr>
              <a:t>Acción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: La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historia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familiar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entra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al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mapa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interactivo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de Tunja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en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un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reproductor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de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casete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(Voz del abuelo + Voz del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joven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+ Dato del IDEAM). La canción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recordada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entra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a la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lista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de Spotify y la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mejor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historia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de la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semana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se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convierte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en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Historieta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Ilustrada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. </a:t>
            </a:r>
          </a:p>
          <a:p>
            <a:pPr marR="0">
              <a:lnSpc>
                <a:spcPct val="90000"/>
              </a:lnSpc>
              <a:spcAft>
                <a:spcPts val="600"/>
              </a:spcAft>
            </a:pPr>
            <a:r>
              <a:rPr lang="en-US" sz="1100" b="1" dirty="0">
                <a:effectLst/>
                <a:latin typeface="Montserrat" panose="00000500000000000000" pitchFamily="50" charset="0"/>
              </a:rPr>
              <a:t>3. En las Aulas y Redes: El </a:t>
            </a:r>
            <a:r>
              <a:rPr lang="en-US" sz="1100" b="1" dirty="0" err="1">
                <a:effectLst/>
                <a:latin typeface="Montserrat" panose="00000500000000000000" pitchFamily="50" charset="0"/>
              </a:rPr>
              <a:t>Contagio</a:t>
            </a:r>
            <a:r>
              <a:rPr lang="en-US" sz="1100" b="1" dirty="0">
                <a:effectLst/>
                <a:latin typeface="Montserrat" panose="00000500000000000000" pitchFamily="50" charset="0"/>
              </a:rPr>
              <a:t> Colectivo</a:t>
            </a:r>
          </a:p>
          <a:p>
            <a:pPr marL="0" marR="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 err="1">
                <a:effectLst/>
                <a:latin typeface="Montserrat Light" panose="00000400000000000000" pitchFamily="50" charset="0"/>
              </a:rPr>
              <a:t>Acción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: Los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jóvenes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de 10° y 11°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llevan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los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retos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a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los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salones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de 6° a 9°. Los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estudiantes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comparten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sus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tendencias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en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TikTok (</a:t>
            </a:r>
            <a:r>
              <a:rPr lang="en-US" sz="1100" i="1" dirty="0">
                <a:effectLst/>
                <a:latin typeface="Montserrat Light" panose="00000400000000000000" pitchFamily="50" charset="0"/>
              </a:rPr>
              <a:t>«Mi canción de </a:t>
            </a:r>
            <a:r>
              <a:rPr lang="en-US" sz="1100" i="1" dirty="0" err="1">
                <a:effectLst/>
                <a:latin typeface="Montserrat Light" panose="00000400000000000000" pitchFamily="50" charset="0"/>
              </a:rPr>
              <a:t>ducha</a:t>
            </a:r>
            <a:r>
              <a:rPr lang="en-US" sz="1100" i="1" dirty="0">
                <a:effectLst/>
                <a:latin typeface="Montserrat Light" panose="00000400000000000000" pitchFamily="50" charset="0"/>
              </a:rPr>
              <a:t> vs la de mi abuelo»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),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registran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sus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avances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en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WhatsApp/Drive y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miden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el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impacto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real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comparando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los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recibos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de </a:t>
            </a:r>
            <a:r>
              <a:rPr lang="en-US" sz="1100" dirty="0" err="1">
                <a:effectLst/>
                <a:latin typeface="Montserrat Light" panose="00000400000000000000" pitchFamily="50" charset="0"/>
              </a:rPr>
              <a:t>agua</a:t>
            </a:r>
            <a:r>
              <a:rPr lang="en-US" sz="1100" dirty="0">
                <a:effectLst/>
                <a:latin typeface="Montserrat Light" panose="00000400000000000000" pitchFamily="50" charset="0"/>
              </a:rPr>
              <a:t> y luz de sus casas.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39C1918-A757-1873-5E45-88C20DB4ADBD}"/>
              </a:ext>
            </a:extLst>
          </p:cNvPr>
          <p:cNvSpPr txBox="1"/>
          <p:nvPr/>
        </p:nvSpPr>
        <p:spPr>
          <a:xfrm>
            <a:off x="7531610" y="5438394"/>
            <a:ext cx="3657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>
                <a:latin typeface="Montserrat Light" panose="00000400000000000000" pitchFamily="50" charset="0"/>
              </a:rPr>
              <a:t>«El proyecto no se queda en una pantalla: empieza en la conversación de la sala, pasa por el mapa interactivo y se convierte en ahorro real de agua y luz en los recibos del hogar.»</a:t>
            </a:r>
          </a:p>
        </p:txBody>
      </p:sp>
    </p:spTree>
    <p:extLst>
      <p:ext uri="{BB962C8B-B14F-4D97-AF65-F5344CB8AC3E}">
        <p14:creationId xmlns:p14="http://schemas.microsoft.com/office/powerpoint/2010/main" val="1138558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132608-B5C3-9356-671A-5DACD0DF6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57D56F4-BA7E-7B23-791E-89BB44DD47AD}"/>
              </a:ext>
            </a:extLst>
          </p:cNvPr>
          <p:cNvSpPr txBox="1"/>
          <p:nvPr/>
        </p:nvSpPr>
        <p:spPr>
          <a:xfrm>
            <a:off x="645064" y="525982"/>
            <a:ext cx="4282983" cy="1200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 kern="1200" dirty="0">
                <a:solidFill>
                  <a:schemeClr val="tx1"/>
                </a:solidFill>
                <a:latin typeface="Montserrat" panose="00000500000000000000" pitchFamily="50" charset="0"/>
                <a:ea typeface="+mj-ea"/>
                <a:cs typeface="+mj-cs"/>
              </a:rPr>
              <a:t>¿</a:t>
            </a:r>
            <a:r>
              <a:rPr lang="en-US" sz="2500" b="1" kern="1200" dirty="0" err="1">
                <a:solidFill>
                  <a:schemeClr val="tx1"/>
                </a:solidFill>
                <a:latin typeface="Montserrat" panose="00000500000000000000" pitchFamily="50" charset="0"/>
                <a:ea typeface="+mj-ea"/>
                <a:cs typeface="+mj-cs"/>
              </a:rPr>
              <a:t>Qué</a:t>
            </a:r>
            <a:r>
              <a:rPr lang="en-US" sz="2500" b="1" kern="1200" dirty="0">
                <a:solidFill>
                  <a:schemeClr val="tx1"/>
                </a:solidFill>
                <a:latin typeface="Montserrat" panose="00000500000000000000" pitchFamily="50" charset="0"/>
                <a:ea typeface="+mj-ea"/>
                <a:cs typeface="+mj-cs"/>
              </a:rPr>
              <a:t> </a:t>
            </a:r>
            <a:r>
              <a:rPr lang="en-US" sz="2500" b="1" kern="1200" dirty="0" err="1">
                <a:solidFill>
                  <a:schemeClr val="tx1"/>
                </a:solidFill>
                <a:latin typeface="Montserrat" panose="00000500000000000000" pitchFamily="50" charset="0"/>
                <a:ea typeface="+mj-ea"/>
                <a:cs typeface="+mj-cs"/>
              </a:rPr>
              <a:t>está</a:t>
            </a:r>
            <a:r>
              <a:rPr lang="en-US" sz="2500" b="1" kern="1200" dirty="0">
                <a:solidFill>
                  <a:schemeClr val="tx1"/>
                </a:solidFill>
                <a:latin typeface="Montserrat" panose="00000500000000000000" pitchFamily="50" charset="0"/>
                <a:ea typeface="+mj-ea"/>
                <a:cs typeface="+mj-cs"/>
              </a:rPr>
              <a:t> </a:t>
            </a:r>
            <a:r>
              <a:rPr lang="en-US" sz="2500" b="1" kern="1200" dirty="0" err="1">
                <a:solidFill>
                  <a:schemeClr val="tx1"/>
                </a:solidFill>
                <a:latin typeface="Montserrat" panose="00000500000000000000" pitchFamily="50" charset="0"/>
                <a:ea typeface="+mj-ea"/>
                <a:cs typeface="+mj-cs"/>
              </a:rPr>
              <a:t>sucediendo</a:t>
            </a:r>
            <a:r>
              <a:rPr lang="en-US" sz="2500" b="1" kern="1200" dirty="0">
                <a:solidFill>
                  <a:schemeClr val="tx1"/>
                </a:solidFill>
                <a:latin typeface="Montserrat" panose="00000500000000000000" pitchFamily="50" charset="0"/>
                <a:ea typeface="+mj-ea"/>
                <a:cs typeface="+mj-cs"/>
              </a:rPr>
              <a:t> </a:t>
            </a:r>
            <a:r>
              <a:rPr lang="en-US" sz="2500" b="1" kern="1200" dirty="0" err="1">
                <a:solidFill>
                  <a:schemeClr val="tx1"/>
                </a:solidFill>
                <a:latin typeface="Montserrat" panose="00000500000000000000" pitchFamily="50" charset="0"/>
                <a:ea typeface="+mj-ea"/>
                <a:cs typeface="+mj-cs"/>
              </a:rPr>
              <a:t>en</a:t>
            </a:r>
            <a:r>
              <a:rPr lang="en-US" sz="2500" b="1" kern="1200" dirty="0">
                <a:solidFill>
                  <a:schemeClr val="tx1"/>
                </a:solidFill>
                <a:latin typeface="Montserrat" panose="00000500000000000000" pitchFamily="50" charset="0"/>
                <a:ea typeface="+mj-ea"/>
                <a:cs typeface="+mj-cs"/>
              </a:rPr>
              <a:t> Colombia y </a:t>
            </a:r>
            <a:r>
              <a:rPr lang="en-US" sz="2500" b="1" kern="1200" dirty="0" err="1">
                <a:solidFill>
                  <a:schemeClr val="tx1"/>
                </a:solidFill>
                <a:latin typeface="Montserrat" panose="00000500000000000000" pitchFamily="50" charset="0"/>
                <a:ea typeface="+mj-ea"/>
                <a:cs typeface="+mj-cs"/>
              </a:rPr>
              <a:t>como</a:t>
            </a:r>
            <a:r>
              <a:rPr lang="en-US" sz="2500" b="1" kern="1200" dirty="0">
                <a:solidFill>
                  <a:schemeClr val="tx1"/>
                </a:solidFill>
                <a:latin typeface="Montserrat" panose="00000500000000000000" pitchFamily="50" charset="0"/>
                <a:ea typeface="+mj-ea"/>
                <a:cs typeface="+mj-cs"/>
              </a:rPr>
              <a:t> </a:t>
            </a:r>
            <a:r>
              <a:rPr lang="en-US" sz="2500" b="1" kern="1200" dirty="0" err="1">
                <a:solidFill>
                  <a:schemeClr val="tx1"/>
                </a:solidFill>
                <a:latin typeface="Montserrat" panose="00000500000000000000" pitchFamily="50" charset="0"/>
                <a:ea typeface="+mj-ea"/>
                <a:cs typeface="+mj-cs"/>
              </a:rPr>
              <a:t>afecta</a:t>
            </a:r>
            <a:r>
              <a:rPr lang="en-US" sz="2500" b="1" kern="1200" dirty="0">
                <a:solidFill>
                  <a:schemeClr val="tx1"/>
                </a:solidFill>
                <a:latin typeface="Montserrat" panose="00000500000000000000" pitchFamily="50" charset="0"/>
                <a:ea typeface="+mj-ea"/>
                <a:cs typeface="+mj-cs"/>
              </a:rPr>
              <a:t> a Tunja?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EE0BA84-3C1E-0FEB-AFFB-6889A5CBB7BD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500" dirty="0">
                <a:latin typeface="Montserrat Light" panose="00000400000000000000" pitchFamily="50" charset="0"/>
              </a:rPr>
              <a:t>Ante la </a:t>
            </a:r>
            <a:r>
              <a:rPr lang="en-US" sz="1500" dirty="0" err="1">
                <a:latin typeface="Montserrat Light" panose="00000400000000000000" pitchFamily="50" charset="0"/>
              </a:rPr>
              <a:t>amenaza</a:t>
            </a:r>
            <a:r>
              <a:rPr lang="en-US" sz="1500" dirty="0">
                <a:latin typeface="Montserrat Light" panose="00000400000000000000" pitchFamily="50" charset="0"/>
              </a:rPr>
              <a:t> del </a:t>
            </a:r>
            <a:r>
              <a:rPr lang="en-US" sz="1500" dirty="0" err="1">
                <a:latin typeface="Montserrat Light" panose="00000400000000000000" pitchFamily="50" charset="0"/>
              </a:rPr>
              <a:t>fenómeno</a:t>
            </a:r>
            <a:r>
              <a:rPr lang="en-US" sz="1500" dirty="0">
                <a:latin typeface="Montserrat Light" panose="00000400000000000000" pitchFamily="50" charset="0"/>
              </a:rPr>
              <a:t> de El Niño </a:t>
            </a:r>
            <a:r>
              <a:rPr lang="en-US" sz="1500" dirty="0" err="1">
                <a:latin typeface="Montserrat Light" panose="00000400000000000000" pitchFamily="50" charset="0"/>
              </a:rPr>
              <a:t>declarada</a:t>
            </a:r>
            <a:r>
              <a:rPr lang="en-US" sz="1500" dirty="0">
                <a:latin typeface="Montserrat Light" panose="00000400000000000000" pitchFamily="50" charset="0"/>
              </a:rPr>
              <a:t> </a:t>
            </a:r>
            <a:r>
              <a:rPr lang="en-US" sz="1500" dirty="0" err="1">
                <a:latin typeface="Montserrat Light" panose="00000400000000000000" pitchFamily="50" charset="0"/>
              </a:rPr>
              <a:t>por</a:t>
            </a:r>
            <a:r>
              <a:rPr lang="en-US" sz="1500" dirty="0">
                <a:latin typeface="Montserrat Light" panose="00000400000000000000" pitchFamily="50" charset="0"/>
              </a:rPr>
              <a:t> el IDEAM, </a:t>
            </a:r>
            <a:r>
              <a:rPr lang="en-US" sz="1500" b="1" dirty="0">
                <a:latin typeface="Montserrat Light" panose="00000400000000000000" pitchFamily="50" charset="0"/>
              </a:rPr>
              <a:t>El </a:t>
            </a:r>
            <a:r>
              <a:rPr lang="en-US" sz="1500" b="1" dirty="0" err="1">
                <a:latin typeface="Montserrat Light" panose="00000400000000000000" pitchFamily="50" charset="0"/>
              </a:rPr>
              <a:t>agua</a:t>
            </a:r>
            <a:r>
              <a:rPr lang="en-US" sz="1500" b="1" dirty="0">
                <a:latin typeface="Montserrat Light" panose="00000400000000000000" pitchFamily="50" charset="0"/>
              </a:rPr>
              <a:t> </a:t>
            </a:r>
            <a:r>
              <a:rPr lang="en-US" sz="1500" b="1" dirty="0" err="1">
                <a:latin typeface="Montserrat Light" panose="00000400000000000000" pitchFamily="50" charset="0"/>
              </a:rPr>
              <a:t>que</a:t>
            </a:r>
            <a:r>
              <a:rPr lang="en-US" sz="1500" b="1" dirty="0">
                <a:latin typeface="Montserrat Light" panose="00000400000000000000" pitchFamily="50" charset="0"/>
              </a:rPr>
              <a:t> se </a:t>
            </a:r>
            <a:r>
              <a:rPr lang="en-US" sz="1500" b="1" dirty="0" err="1">
                <a:latin typeface="Montserrat Light" panose="00000400000000000000" pitchFamily="50" charset="0"/>
              </a:rPr>
              <a:t>hereda</a:t>
            </a:r>
            <a:r>
              <a:rPr lang="en-US" sz="1500" dirty="0">
                <a:latin typeface="Montserrat Light" panose="00000400000000000000" pitchFamily="50" charset="0"/>
              </a:rPr>
              <a:t> </a:t>
            </a:r>
            <a:r>
              <a:rPr lang="en-US" sz="1500" dirty="0" err="1">
                <a:latin typeface="Montserrat Light" panose="00000400000000000000" pitchFamily="50" charset="0"/>
              </a:rPr>
              <a:t>rescata</a:t>
            </a:r>
            <a:r>
              <a:rPr lang="en-US" sz="1500" dirty="0">
                <a:latin typeface="Montserrat Light" panose="00000400000000000000" pitchFamily="50" charset="0"/>
              </a:rPr>
              <a:t> la memoria viva del </a:t>
            </a:r>
            <a:r>
              <a:rPr lang="en-US" sz="1500" dirty="0" err="1">
                <a:latin typeface="Montserrat Light" panose="00000400000000000000" pitchFamily="50" charset="0"/>
              </a:rPr>
              <a:t>apagón</a:t>
            </a:r>
            <a:r>
              <a:rPr lang="en-US" sz="1500" dirty="0">
                <a:latin typeface="Montserrat Light" panose="00000400000000000000" pitchFamily="50" charset="0"/>
              </a:rPr>
              <a:t> de 1992 a </a:t>
            </a:r>
            <a:r>
              <a:rPr lang="en-US" sz="1500" dirty="0" err="1">
                <a:latin typeface="Montserrat Light" panose="00000400000000000000" pitchFamily="50" charset="0"/>
              </a:rPr>
              <a:t>través</a:t>
            </a:r>
            <a:r>
              <a:rPr lang="en-US" sz="1500" dirty="0">
                <a:latin typeface="Montserrat Light" panose="00000400000000000000" pitchFamily="50" charset="0"/>
              </a:rPr>
              <a:t> de </a:t>
            </a:r>
            <a:r>
              <a:rPr lang="en-US" sz="1500" dirty="0" err="1">
                <a:latin typeface="Montserrat Light" panose="00000400000000000000" pitchFamily="50" charset="0"/>
              </a:rPr>
              <a:t>una</a:t>
            </a:r>
            <a:r>
              <a:rPr lang="en-US" sz="1500" dirty="0">
                <a:latin typeface="Montserrat Light" panose="00000400000000000000" pitchFamily="50" charset="0"/>
              </a:rPr>
              <a:t> </a:t>
            </a:r>
            <a:r>
              <a:rPr lang="en-US" sz="1500" dirty="0" err="1">
                <a:latin typeface="Montserrat Light" panose="00000400000000000000" pitchFamily="50" charset="0"/>
              </a:rPr>
              <a:t>propuesta</a:t>
            </a:r>
            <a:r>
              <a:rPr lang="en-US" sz="1500" dirty="0">
                <a:latin typeface="Montserrat Light" panose="00000400000000000000" pitchFamily="50" charset="0"/>
              </a:rPr>
              <a:t> transmedia documental </a:t>
            </a:r>
            <a:r>
              <a:rPr lang="en-US" sz="1500" dirty="0" err="1">
                <a:latin typeface="Montserrat Light" panose="00000400000000000000" pitchFamily="50" charset="0"/>
              </a:rPr>
              <a:t>impulsada</a:t>
            </a:r>
            <a:r>
              <a:rPr lang="en-US" sz="1500" dirty="0">
                <a:latin typeface="Montserrat Light" panose="00000400000000000000" pitchFamily="50" charset="0"/>
              </a:rPr>
              <a:t> </a:t>
            </a:r>
            <a:r>
              <a:rPr lang="en-US" sz="1500" dirty="0" err="1">
                <a:latin typeface="Montserrat Light" panose="00000400000000000000" pitchFamily="50" charset="0"/>
              </a:rPr>
              <a:t>por</a:t>
            </a:r>
            <a:r>
              <a:rPr lang="en-US" sz="1500" dirty="0">
                <a:latin typeface="Montserrat Light" panose="00000400000000000000" pitchFamily="50" charset="0"/>
              </a:rPr>
              <a:t> </a:t>
            </a:r>
            <a:r>
              <a:rPr lang="en-US" sz="1500" dirty="0" err="1">
                <a:latin typeface="Montserrat Light" panose="00000400000000000000" pitchFamily="50" charset="0"/>
              </a:rPr>
              <a:t>estudiantes</a:t>
            </a:r>
            <a:r>
              <a:rPr lang="en-US" sz="1500" dirty="0">
                <a:latin typeface="Montserrat Light" panose="00000400000000000000" pitchFamily="50" charset="0"/>
              </a:rPr>
              <a:t>. Los </a:t>
            </a:r>
            <a:r>
              <a:rPr lang="en-US" sz="1500" dirty="0" err="1">
                <a:latin typeface="Montserrat Light" panose="00000400000000000000" pitchFamily="50" charset="0"/>
              </a:rPr>
              <a:t>jóvenes</a:t>
            </a:r>
            <a:r>
              <a:rPr lang="en-US" sz="1500" dirty="0">
                <a:latin typeface="Montserrat Light" panose="00000400000000000000" pitchFamily="50" charset="0"/>
              </a:rPr>
              <a:t> </a:t>
            </a:r>
            <a:r>
              <a:rPr lang="en-US" sz="1500" dirty="0" err="1">
                <a:latin typeface="Montserrat Light" panose="00000400000000000000" pitchFamily="50" charset="0"/>
              </a:rPr>
              <a:t>entrevistan</a:t>
            </a:r>
            <a:r>
              <a:rPr lang="en-US" sz="1500" dirty="0">
                <a:latin typeface="Montserrat Light" panose="00000400000000000000" pitchFamily="50" charset="0"/>
              </a:rPr>
              <a:t> a sus abuelos y </a:t>
            </a:r>
            <a:r>
              <a:rPr lang="en-US" sz="1500" dirty="0" err="1">
                <a:latin typeface="Montserrat Light" panose="00000400000000000000" pitchFamily="50" charset="0"/>
              </a:rPr>
              <a:t>familiares</a:t>
            </a:r>
            <a:r>
              <a:rPr lang="en-US" sz="1500" dirty="0">
                <a:latin typeface="Montserrat Light" panose="00000400000000000000" pitchFamily="50" charset="0"/>
              </a:rPr>
              <a:t> para registrar sus </a:t>
            </a:r>
            <a:r>
              <a:rPr lang="en-US" sz="1500" dirty="0" err="1">
                <a:latin typeface="Montserrat Light" panose="00000400000000000000" pitchFamily="50" charset="0"/>
              </a:rPr>
              <a:t>vivencias</a:t>
            </a:r>
            <a:r>
              <a:rPr lang="en-US" sz="1500" dirty="0">
                <a:latin typeface="Montserrat Light" panose="00000400000000000000" pitchFamily="50" charset="0"/>
              </a:rPr>
              <a:t> </a:t>
            </a:r>
            <a:r>
              <a:rPr lang="en-US" sz="1500" dirty="0" err="1">
                <a:latin typeface="Montserrat Light" panose="00000400000000000000" pitchFamily="50" charset="0"/>
              </a:rPr>
              <a:t>como</a:t>
            </a:r>
            <a:r>
              <a:rPr lang="en-US" sz="1500" dirty="0">
                <a:latin typeface="Montserrat Light" panose="00000400000000000000" pitchFamily="50" charset="0"/>
              </a:rPr>
              <a:t> el </a:t>
            </a:r>
            <a:r>
              <a:rPr lang="en-US" sz="1500" i="1" dirty="0">
                <a:latin typeface="Montserrat Light" panose="00000400000000000000" pitchFamily="50" charset="0"/>
              </a:rPr>
              <a:t>Lado A</a:t>
            </a:r>
            <a:r>
              <a:rPr lang="en-US" sz="1500" dirty="0">
                <a:latin typeface="Montserrat Light" panose="00000400000000000000" pitchFamily="50" charset="0"/>
              </a:rPr>
              <a:t> de un </a:t>
            </a:r>
            <a:r>
              <a:rPr lang="en-US" sz="1500" dirty="0" err="1">
                <a:latin typeface="Montserrat Light" panose="00000400000000000000" pitchFamily="50" charset="0"/>
              </a:rPr>
              <a:t>casete</a:t>
            </a:r>
            <a:r>
              <a:rPr lang="en-US" sz="1500" dirty="0">
                <a:latin typeface="Montserrat Light" panose="00000400000000000000" pitchFamily="50" charset="0"/>
              </a:rPr>
              <a:t> </a:t>
            </a:r>
            <a:r>
              <a:rPr lang="en-US" sz="1500" dirty="0" err="1">
                <a:latin typeface="Montserrat Light" panose="00000400000000000000" pitchFamily="50" charset="0"/>
              </a:rPr>
              <a:t>analógico</a:t>
            </a:r>
            <a:r>
              <a:rPr lang="en-US" sz="1500" dirty="0">
                <a:latin typeface="Montserrat Light" panose="00000400000000000000" pitchFamily="50" charset="0"/>
              </a:rPr>
              <a:t>, </a:t>
            </a:r>
            <a:r>
              <a:rPr lang="en-US" sz="1500" dirty="0" err="1">
                <a:latin typeface="Montserrat Light" panose="00000400000000000000" pitchFamily="50" charset="0"/>
              </a:rPr>
              <a:t>mientras</a:t>
            </a:r>
            <a:r>
              <a:rPr lang="en-US" sz="1500" dirty="0">
                <a:latin typeface="Montserrat Light" panose="00000400000000000000" pitchFamily="50" charset="0"/>
              </a:rPr>
              <a:t> </a:t>
            </a:r>
            <a:r>
              <a:rPr lang="en-US" sz="1500" dirty="0" err="1">
                <a:latin typeface="Montserrat Light" panose="00000400000000000000" pitchFamily="50" charset="0"/>
              </a:rPr>
              <a:t>construyen</a:t>
            </a:r>
            <a:r>
              <a:rPr lang="en-US" sz="1500" dirty="0">
                <a:latin typeface="Montserrat Light" panose="00000400000000000000" pitchFamily="50" charset="0"/>
              </a:rPr>
              <a:t> un </a:t>
            </a:r>
            <a:r>
              <a:rPr lang="en-US" sz="1500" i="1" dirty="0">
                <a:latin typeface="Montserrat Light" panose="00000400000000000000" pitchFamily="50" charset="0"/>
              </a:rPr>
              <a:t>Lado B</a:t>
            </a:r>
            <a:r>
              <a:rPr lang="en-US" sz="1500" dirty="0">
                <a:latin typeface="Montserrat Light" panose="00000400000000000000" pitchFamily="50" charset="0"/>
              </a:rPr>
              <a:t> con </a:t>
            </a:r>
            <a:r>
              <a:rPr lang="en-US" sz="1500" dirty="0" err="1">
                <a:latin typeface="Montserrat Light" panose="00000400000000000000" pitchFamily="50" charset="0"/>
              </a:rPr>
              <a:t>retos</a:t>
            </a:r>
            <a:r>
              <a:rPr lang="en-US" sz="1500" dirty="0">
                <a:latin typeface="Montserrat Light" panose="00000400000000000000" pitchFamily="50" charset="0"/>
              </a:rPr>
              <a:t> </a:t>
            </a:r>
            <a:r>
              <a:rPr lang="en-US" sz="1500" dirty="0" err="1">
                <a:latin typeface="Montserrat Light" panose="00000400000000000000" pitchFamily="50" charset="0"/>
              </a:rPr>
              <a:t>cotidianos</a:t>
            </a:r>
            <a:r>
              <a:rPr lang="en-US" sz="1500" dirty="0">
                <a:latin typeface="Montserrat Light" panose="00000400000000000000" pitchFamily="50" charset="0"/>
              </a:rPr>
              <a:t> de </a:t>
            </a:r>
            <a:r>
              <a:rPr lang="en-US" sz="1500" dirty="0" err="1">
                <a:latin typeface="Montserrat Light" panose="00000400000000000000" pitchFamily="50" charset="0"/>
              </a:rPr>
              <a:t>ahorro</a:t>
            </a:r>
            <a:r>
              <a:rPr lang="en-US" sz="1500" dirty="0">
                <a:latin typeface="Montserrat Light" panose="00000400000000000000" pitchFamily="50" charset="0"/>
              </a:rPr>
              <a:t>. </a:t>
            </a:r>
            <a:r>
              <a:rPr lang="en-US" sz="1500" dirty="0" err="1">
                <a:latin typeface="Montserrat Light" panose="00000400000000000000" pitchFamily="50" charset="0"/>
              </a:rPr>
              <a:t>Estas</a:t>
            </a:r>
            <a:r>
              <a:rPr lang="en-US" sz="1500" dirty="0">
                <a:latin typeface="Montserrat Light" panose="00000400000000000000" pitchFamily="50" charset="0"/>
              </a:rPr>
              <a:t> </a:t>
            </a:r>
            <a:r>
              <a:rPr lang="en-US" sz="1500" dirty="0" err="1">
                <a:latin typeface="Montserrat Light" panose="00000400000000000000" pitchFamily="50" charset="0"/>
              </a:rPr>
              <a:t>historias</a:t>
            </a:r>
            <a:r>
              <a:rPr lang="en-US" sz="1500" dirty="0">
                <a:latin typeface="Montserrat Light" panose="00000400000000000000" pitchFamily="50" charset="0"/>
              </a:rPr>
              <a:t> se </a:t>
            </a:r>
            <a:r>
              <a:rPr lang="en-US" sz="1500" dirty="0" err="1">
                <a:latin typeface="Montserrat Light" panose="00000400000000000000" pitchFamily="50" charset="0"/>
              </a:rPr>
              <a:t>despliegan</a:t>
            </a:r>
            <a:r>
              <a:rPr lang="en-US" sz="1500" dirty="0">
                <a:latin typeface="Montserrat Light" panose="00000400000000000000" pitchFamily="50" charset="0"/>
              </a:rPr>
              <a:t> </a:t>
            </a:r>
            <a:r>
              <a:rPr lang="en-US" sz="1500" dirty="0" err="1">
                <a:latin typeface="Montserrat Light" panose="00000400000000000000" pitchFamily="50" charset="0"/>
              </a:rPr>
              <a:t>en</a:t>
            </a:r>
            <a:r>
              <a:rPr lang="en-US" sz="1500" dirty="0">
                <a:latin typeface="Montserrat Light" panose="00000400000000000000" pitchFamily="50" charset="0"/>
              </a:rPr>
              <a:t> un </a:t>
            </a:r>
            <a:r>
              <a:rPr lang="en-US" sz="1500" dirty="0" err="1">
                <a:latin typeface="Montserrat Light" panose="00000400000000000000" pitchFamily="50" charset="0"/>
              </a:rPr>
              <a:t>mapa</a:t>
            </a:r>
            <a:r>
              <a:rPr lang="en-US" sz="1500" dirty="0">
                <a:latin typeface="Montserrat Light" panose="00000400000000000000" pitchFamily="50" charset="0"/>
              </a:rPr>
              <a:t> web </a:t>
            </a:r>
            <a:r>
              <a:rPr lang="en-US" sz="1500" dirty="0" err="1">
                <a:latin typeface="Montserrat Light" panose="00000400000000000000" pitchFamily="50" charset="0"/>
              </a:rPr>
              <a:t>interactivo</a:t>
            </a:r>
            <a:r>
              <a:rPr lang="en-US" sz="1500" dirty="0">
                <a:latin typeface="Montserrat Light" panose="00000400000000000000" pitchFamily="50" charset="0"/>
              </a:rPr>
              <a:t>, </a:t>
            </a:r>
            <a:r>
              <a:rPr lang="en-US" sz="1500" dirty="0" err="1">
                <a:latin typeface="Montserrat Light" panose="00000400000000000000" pitchFamily="50" charset="0"/>
              </a:rPr>
              <a:t>una</a:t>
            </a:r>
            <a:r>
              <a:rPr lang="en-US" sz="1500" dirty="0">
                <a:latin typeface="Montserrat Light" panose="00000400000000000000" pitchFamily="50" charset="0"/>
              </a:rPr>
              <a:t> </a:t>
            </a:r>
            <a:r>
              <a:rPr lang="en-US" sz="1500" dirty="0" err="1">
                <a:latin typeface="Montserrat Light" panose="00000400000000000000" pitchFamily="50" charset="0"/>
              </a:rPr>
              <a:t>lista</a:t>
            </a:r>
            <a:r>
              <a:rPr lang="en-US" sz="1500" dirty="0">
                <a:latin typeface="Montserrat Light" panose="00000400000000000000" pitchFamily="50" charset="0"/>
              </a:rPr>
              <a:t> de canciones </a:t>
            </a:r>
            <a:r>
              <a:rPr lang="en-US" sz="1500" dirty="0" err="1">
                <a:latin typeface="Montserrat Light" panose="00000400000000000000" pitchFamily="50" charset="0"/>
              </a:rPr>
              <a:t>en</a:t>
            </a:r>
            <a:r>
              <a:rPr lang="en-US" sz="1500" dirty="0">
                <a:latin typeface="Montserrat Light" panose="00000400000000000000" pitchFamily="50" charset="0"/>
              </a:rPr>
              <a:t> Spotify y </a:t>
            </a:r>
            <a:r>
              <a:rPr lang="en-US" sz="1500" dirty="0" err="1">
                <a:latin typeface="Montserrat Light" panose="00000400000000000000" pitchFamily="50" charset="0"/>
              </a:rPr>
              <a:t>una</a:t>
            </a:r>
            <a:r>
              <a:rPr lang="en-US" sz="1500" dirty="0">
                <a:latin typeface="Montserrat Light" panose="00000400000000000000" pitchFamily="50" charset="0"/>
              </a:rPr>
              <a:t> </a:t>
            </a:r>
            <a:r>
              <a:rPr lang="en-US" sz="1500" dirty="0" err="1">
                <a:latin typeface="Montserrat Light" panose="00000400000000000000" pitchFamily="50" charset="0"/>
              </a:rPr>
              <a:t>historieta</a:t>
            </a:r>
            <a:r>
              <a:rPr lang="en-US" sz="1500" dirty="0">
                <a:latin typeface="Montserrat Light" panose="00000400000000000000" pitchFamily="50" charset="0"/>
              </a:rPr>
              <a:t> </a:t>
            </a:r>
            <a:r>
              <a:rPr lang="en-US" sz="1500" dirty="0" err="1">
                <a:latin typeface="Montserrat Light" panose="00000400000000000000" pitchFamily="50" charset="0"/>
              </a:rPr>
              <a:t>ilustrada</a:t>
            </a:r>
            <a:r>
              <a:rPr lang="en-US" sz="1500" dirty="0">
                <a:latin typeface="Montserrat Light" panose="00000400000000000000" pitchFamily="50" charset="0"/>
              </a:rPr>
              <a:t>, </a:t>
            </a:r>
            <a:r>
              <a:rPr lang="en-US" sz="1500" dirty="0" err="1">
                <a:latin typeface="Montserrat Light" panose="00000400000000000000" pitchFamily="50" charset="0"/>
              </a:rPr>
              <a:t>conectando</a:t>
            </a:r>
            <a:r>
              <a:rPr lang="en-US" sz="1500" dirty="0">
                <a:latin typeface="Montserrat Light" panose="00000400000000000000" pitchFamily="50" charset="0"/>
              </a:rPr>
              <a:t> a las </a:t>
            </a:r>
            <a:r>
              <a:rPr lang="en-US" sz="1500" dirty="0" err="1">
                <a:latin typeface="Montserrat Light" panose="00000400000000000000" pitchFamily="50" charset="0"/>
              </a:rPr>
              <a:t>generaciones</a:t>
            </a:r>
            <a:r>
              <a:rPr lang="en-US" sz="1500" dirty="0">
                <a:latin typeface="Montserrat Light" panose="00000400000000000000" pitchFamily="50" charset="0"/>
              </a:rPr>
              <a:t> para </a:t>
            </a:r>
            <a:r>
              <a:rPr lang="en-US" sz="1500" dirty="0" err="1">
                <a:latin typeface="Montserrat Light" panose="00000400000000000000" pitchFamily="50" charset="0"/>
              </a:rPr>
              <a:t>lograr</a:t>
            </a:r>
            <a:r>
              <a:rPr lang="en-US" sz="1500" dirty="0">
                <a:latin typeface="Montserrat Light" panose="00000400000000000000" pitchFamily="50" charset="0"/>
              </a:rPr>
              <a:t> un </a:t>
            </a:r>
            <a:r>
              <a:rPr lang="en-US" sz="1500" dirty="0" err="1">
                <a:latin typeface="Montserrat Light" panose="00000400000000000000" pitchFamily="50" charset="0"/>
              </a:rPr>
              <a:t>ahorro</a:t>
            </a:r>
            <a:r>
              <a:rPr lang="en-US" sz="1500" dirty="0">
                <a:latin typeface="Montserrat Light" panose="00000400000000000000" pitchFamily="50" charset="0"/>
              </a:rPr>
              <a:t> real y </a:t>
            </a:r>
            <a:r>
              <a:rPr lang="en-US" sz="1500" dirty="0" err="1">
                <a:latin typeface="Montserrat Light" panose="00000400000000000000" pitchFamily="50" charset="0"/>
              </a:rPr>
              <a:t>medible</a:t>
            </a:r>
            <a:r>
              <a:rPr lang="en-US" sz="1500" dirty="0">
                <a:latin typeface="Montserrat Light" panose="00000400000000000000" pitchFamily="50" charset="0"/>
              </a:rPr>
              <a:t> de </a:t>
            </a:r>
            <a:r>
              <a:rPr lang="en-US" sz="1500" dirty="0" err="1">
                <a:latin typeface="Montserrat Light" panose="00000400000000000000" pitchFamily="50" charset="0"/>
              </a:rPr>
              <a:t>agua</a:t>
            </a:r>
            <a:r>
              <a:rPr lang="en-US" sz="1500" dirty="0">
                <a:latin typeface="Montserrat Light" panose="00000400000000000000" pitchFamily="50" charset="0"/>
              </a:rPr>
              <a:t> y luz </a:t>
            </a:r>
            <a:r>
              <a:rPr lang="en-US" sz="1500" dirty="0" err="1">
                <a:latin typeface="Montserrat Light" panose="00000400000000000000" pitchFamily="50" charset="0"/>
              </a:rPr>
              <a:t>en</a:t>
            </a:r>
            <a:r>
              <a:rPr lang="en-US" sz="1500" dirty="0">
                <a:latin typeface="Montserrat Light" panose="00000400000000000000" pitchFamily="50" charset="0"/>
              </a:rPr>
              <a:t> </a:t>
            </a:r>
            <a:r>
              <a:rPr lang="en-US" sz="1500" dirty="0" err="1">
                <a:latin typeface="Montserrat Light" panose="00000400000000000000" pitchFamily="50" charset="0"/>
              </a:rPr>
              <a:t>los</a:t>
            </a:r>
            <a:r>
              <a:rPr lang="en-US" sz="1500" dirty="0">
                <a:latin typeface="Montserrat Light" panose="00000400000000000000" pitchFamily="50" charset="0"/>
              </a:rPr>
              <a:t> </a:t>
            </a:r>
            <a:r>
              <a:rPr lang="en-US" sz="1500" dirty="0" err="1">
                <a:latin typeface="Montserrat Light" panose="00000400000000000000" pitchFamily="50" charset="0"/>
              </a:rPr>
              <a:t>hogares</a:t>
            </a:r>
            <a:r>
              <a:rPr lang="en-US" sz="1500" dirty="0">
                <a:latin typeface="Montserrat Light" panose="00000400000000000000" pitchFamily="50" charset="0"/>
              </a:rPr>
              <a:t>.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670669F-0AE3-CD93-EE6B-6943A2FB37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344" y="650494"/>
            <a:ext cx="5488805" cy="532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340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1B6E9D-622A-0B06-38B6-CC84B233D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86BBDA8-7E31-47B7-800A-97A2BD677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88B6A96-04B8-42ED-42E4-B9E9E52BC111}"/>
              </a:ext>
            </a:extLst>
          </p:cNvPr>
          <p:cNvSpPr txBox="1"/>
          <p:nvPr/>
        </p:nvSpPr>
        <p:spPr>
          <a:xfrm>
            <a:off x="5995989" y="728283"/>
            <a:ext cx="5200770" cy="26034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tx1"/>
                </a:solidFill>
                <a:effectLst/>
                <a:latin typeface="Montserrat" panose="00000500000000000000" pitchFamily="50" charset="0"/>
                <a:ea typeface="+mj-ea"/>
                <a:cs typeface="+mj-cs"/>
              </a:rPr>
              <a:t>¿Por </a:t>
            </a:r>
            <a:r>
              <a:rPr lang="en-US" sz="4000" b="1" kern="1200" dirty="0" err="1">
                <a:solidFill>
                  <a:schemeClr val="tx1"/>
                </a:solidFill>
                <a:effectLst/>
                <a:latin typeface="Montserrat" panose="00000500000000000000" pitchFamily="50" charset="0"/>
                <a:ea typeface="+mj-ea"/>
                <a:cs typeface="+mj-cs"/>
              </a:rPr>
              <a:t>qué</a:t>
            </a:r>
            <a:r>
              <a:rPr lang="en-US" sz="4000" b="1" kern="1200" dirty="0">
                <a:solidFill>
                  <a:schemeClr val="tx1"/>
                </a:solidFill>
                <a:effectLst/>
                <a:latin typeface="Montserrat" panose="00000500000000000000" pitchFamily="50" charset="0"/>
                <a:ea typeface="+mj-ea"/>
                <a:cs typeface="+mj-cs"/>
              </a:rPr>
              <a:t> es </a:t>
            </a:r>
            <a:r>
              <a:rPr lang="en-US" sz="4000" b="1" kern="1200" dirty="0" err="1">
                <a:solidFill>
                  <a:schemeClr val="tx1"/>
                </a:solidFill>
                <a:effectLst/>
                <a:latin typeface="Montserrat" panose="00000500000000000000" pitchFamily="50" charset="0"/>
                <a:ea typeface="+mj-ea"/>
                <a:cs typeface="+mj-cs"/>
              </a:rPr>
              <a:t>único</a:t>
            </a:r>
            <a:r>
              <a:rPr lang="en-US" sz="4000" b="1" kern="1200" dirty="0">
                <a:solidFill>
                  <a:schemeClr val="tx1"/>
                </a:solidFill>
                <a:latin typeface="Montserrat" panose="00000500000000000000" pitchFamily="50" charset="0"/>
                <a:ea typeface="+mj-ea"/>
                <a:cs typeface="+mj-cs"/>
              </a:rPr>
              <a:t>?</a:t>
            </a:r>
            <a:r>
              <a:rPr lang="en-US" sz="4000" kern="1200" dirty="0">
                <a:solidFill>
                  <a:schemeClr val="tx1"/>
                </a:solidFill>
                <a:effectLst/>
                <a:latin typeface="Montserrat" panose="00000500000000000000" pitchFamily="50" charset="0"/>
                <a:ea typeface="+mj-ea"/>
                <a:cs typeface="+mj-cs"/>
              </a:rPr>
              <a:t>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C37D3BE-CA54-D0D2-6C05-6B21A4E7D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39" y="734323"/>
            <a:ext cx="5002092" cy="539308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284E8DC-D150-6E60-C417-943D7237D864}"/>
              </a:ext>
            </a:extLst>
          </p:cNvPr>
          <p:cNvSpPr txBox="1"/>
          <p:nvPr/>
        </p:nvSpPr>
        <p:spPr>
          <a:xfrm>
            <a:off x="5995989" y="3526300"/>
            <a:ext cx="5200770" cy="2588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>
              <a:lnSpc>
                <a:spcPct val="90000"/>
              </a:lnSpc>
              <a:spcAft>
                <a:spcPts val="600"/>
              </a:spcAft>
            </a:pPr>
            <a:r>
              <a:rPr lang="en-US" sz="800" b="1" dirty="0">
                <a:effectLst/>
                <a:latin typeface="Montserrat Light" panose="00000400000000000000" pitchFamily="50" charset="0"/>
              </a:rPr>
              <a:t>1. </a:t>
            </a:r>
            <a:r>
              <a:rPr lang="en-US" sz="800" b="1" dirty="0">
                <a:effectLst/>
                <a:latin typeface="Montserrat" panose="00000500000000000000" pitchFamily="50" charset="0"/>
              </a:rPr>
              <a:t>Transmedia Documental Real (Cero </a:t>
            </a:r>
            <a:r>
              <a:rPr lang="en-US" sz="800" b="1" dirty="0" err="1">
                <a:effectLst/>
                <a:latin typeface="Montserrat" panose="00000500000000000000" pitchFamily="50" charset="0"/>
              </a:rPr>
              <a:t>Ficción</a:t>
            </a:r>
            <a:r>
              <a:rPr lang="en-US" sz="800" b="1" dirty="0">
                <a:effectLst/>
                <a:latin typeface="Montserrat" panose="00000500000000000000" pitchFamily="50" charset="0"/>
              </a:rPr>
              <a:t> y Cero IA </a:t>
            </a:r>
            <a:r>
              <a:rPr lang="en-US" sz="800" b="1" dirty="0" err="1">
                <a:effectLst/>
                <a:latin typeface="Montserrat" panose="00000500000000000000" pitchFamily="50" charset="0"/>
              </a:rPr>
              <a:t>en</a:t>
            </a:r>
            <a:r>
              <a:rPr lang="en-US" sz="800" b="1" dirty="0">
                <a:effectLst/>
                <a:latin typeface="Montserrat" panose="00000500000000000000" pitchFamily="50" charset="0"/>
              </a:rPr>
              <a:t> </a:t>
            </a:r>
            <a:r>
              <a:rPr lang="en-US" sz="800" b="1" dirty="0" err="1">
                <a:effectLst/>
                <a:latin typeface="Montserrat" panose="00000500000000000000" pitchFamily="50" charset="0"/>
              </a:rPr>
              <a:t>relatos</a:t>
            </a:r>
            <a:r>
              <a:rPr lang="en-US" sz="800" b="1" dirty="0">
                <a:effectLst/>
                <a:latin typeface="Montserrat" panose="00000500000000000000" pitchFamily="50" charset="0"/>
              </a:rPr>
              <a:t>)</a:t>
            </a:r>
          </a:p>
          <a:p>
            <a:pPr marL="0" marR="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" dirty="0" err="1">
                <a:effectLst/>
                <a:latin typeface="Montserrat Light" panose="00000400000000000000" pitchFamily="50" charset="0"/>
              </a:rPr>
              <a:t>Diferenciador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: No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inventa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personajes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ni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usa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inteligencia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artificial para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recrear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testimonios. La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materia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prima es la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voz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real e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irreemplazable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de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los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abuelos y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familiares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que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vivieron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el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apagón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de 1992. </a:t>
            </a:r>
          </a:p>
          <a:p>
            <a:pPr marR="0">
              <a:lnSpc>
                <a:spcPct val="90000"/>
              </a:lnSpc>
              <a:spcAft>
                <a:spcPts val="600"/>
              </a:spcAft>
            </a:pPr>
            <a:r>
              <a:rPr lang="en-US" sz="800" dirty="0">
                <a:effectLst/>
                <a:latin typeface="Montserrat Light" panose="00000400000000000000" pitchFamily="50" charset="0"/>
              </a:rPr>
              <a:t>2. </a:t>
            </a:r>
            <a:r>
              <a:rPr lang="en-US" sz="800" b="1" dirty="0" err="1">
                <a:effectLst/>
                <a:latin typeface="Montserrat" panose="00000500000000000000" pitchFamily="50" charset="0"/>
              </a:rPr>
              <a:t>Conexión</a:t>
            </a:r>
            <a:r>
              <a:rPr lang="en-US" sz="800" b="1" dirty="0">
                <a:effectLst/>
                <a:latin typeface="Montserrat" panose="00000500000000000000" pitchFamily="50" charset="0"/>
              </a:rPr>
              <a:t> </a:t>
            </a:r>
            <a:r>
              <a:rPr lang="en-US" sz="800" b="1" dirty="0" err="1">
                <a:effectLst/>
                <a:latin typeface="Montserrat" panose="00000500000000000000" pitchFamily="50" charset="0"/>
              </a:rPr>
              <a:t>Intergeneracional</a:t>
            </a:r>
            <a:r>
              <a:rPr lang="en-US" sz="800" b="1" dirty="0">
                <a:effectLst/>
                <a:latin typeface="Montserrat" panose="00000500000000000000" pitchFamily="50" charset="0"/>
              </a:rPr>
              <a:t> y Memoria Viva (Lado A / Lado B)</a:t>
            </a:r>
          </a:p>
          <a:p>
            <a:pPr marL="0" marR="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" dirty="0" err="1">
                <a:effectLst/>
                <a:latin typeface="Montserrat Light" panose="00000400000000000000" pitchFamily="50" charset="0"/>
              </a:rPr>
              <a:t>Diferenciador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: No se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queda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en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un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archivo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histórico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pasivo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;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conecta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el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pasado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(</a:t>
            </a:r>
            <a:r>
              <a:rPr lang="en-US" sz="800" i="1" dirty="0">
                <a:effectLst/>
                <a:latin typeface="Montserrat Light" panose="00000400000000000000" pitchFamily="50" charset="0"/>
              </a:rPr>
              <a:t>Lado A: la memoria del familiar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) con el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presente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(</a:t>
            </a:r>
            <a:r>
              <a:rPr lang="en-US" sz="800" i="1" dirty="0">
                <a:effectLst/>
                <a:latin typeface="Montserrat Light" panose="00000400000000000000" pitchFamily="50" charset="0"/>
              </a:rPr>
              <a:t>Lado B: la </a:t>
            </a:r>
            <a:r>
              <a:rPr lang="en-US" sz="800" i="1" dirty="0" err="1">
                <a:effectLst/>
                <a:latin typeface="Montserrat Light" panose="00000400000000000000" pitchFamily="50" charset="0"/>
              </a:rPr>
              <a:t>acción</a:t>
            </a:r>
            <a:r>
              <a:rPr lang="en-US" sz="800" i="1" dirty="0">
                <a:effectLst/>
                <a:latin typeface="Montserrat Light" panose="00000400000000000000" pitchFamily="50" charset="0"/>
              </a:rPr>
              <a:t> del </a:t>
            </a:r>
            <a:r>
              <a:rPr lang="en-US" sz="800" i="1" dirty="0" err="1">
                <a:effectLst/>
                <a:latin typeface="Montserrat Light" panose="00000400000000000000" pitchFamily="50" charset="0"/>
              </a:rPr>
              <a:t>joven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),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traduciendo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la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experiencia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de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hace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34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años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en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soluciones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para la crisis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climática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de hoy. </a:t>
            </a:r>
          </a:p>
          <a:p>
            <a:pPr marR="0">
              <a:lnSpc>
                <a:spcPct val="90000"/>
              </a:lnSpc>
              <a:spcAft>
                <a:spcPts val="600"/>
              </a:spcAft>
            </a:pPr>
            <a:r>
              <a:rPr lang="en-US" sz="800" dirty="0">
                <a:effectLst/>
                <a:latin typeface="Montserrat Light" panose="00000400000000000000" pitchFamily="50" charset="0"/>
              </a:rPr>
              <a:t>3. </a:t>
            </a:r>
            <a:r>
              <a:rPr lang="en-US" sz="800" b="1" dirty="0">
                <a:effectLst/>
                <a:latin typeface="Montserrat" panose="00000500000000000000" pitchFamily="50" charset="0"/>
              </a:rPr>
              <a:t>Cambio de </a:t>
            </a:r>
            <a:r>
              <a:rPr lang="en-US" sz="800" b="1" dirty="0" err="1">
                <a:effectLst/>
                <a:latin typeface="Montserrat" panose="00000500000000000000" pitchFamily="50" charset="0"/>
              </a:rPr>
              <a:t>Comportamiento</a:t>
            </a:r>
            <a:r>
              <a:rPr lang="en-US" sz="800" b="1" dirty="0">
                <a:effectLst/>
                <a:latin typeface="Montserrat" panose="00000500000000000000" pitchFamily="50" charset="0"/>
              </a:rPr>
              <a:t> </a:t>
            </a:r>
            <a:r>
              <a:rPr lang="en-US" sz="800" b="1" dirty="0" err="1">
                <a:effectLst/>
                <a:latin typeface="Montserrat" panose="00000500000000000000" pitchFamily="50" charset="0"/>
              </a:rPr>
              <a:t>Medible</a:t>
            </a:r>
            <a:r>
              <a:rPr lang="en-US" sz="800" b="1" dirty="0">
                <a:effectLst/>
                <a:latin typeface="Montserrat" panose="00000500000000000000" pitchFamily="50" charset="0"/>
              </a:rPr>
              <a:t> </a:t>
            </a:r>
            <a:r>
              <a:rPr lang="en-US" sz="800" b="1" dirty="0" err="1">
                <a:effectLst/>
                <a:latin typeface="Montserrat" panose="00000500000000000000" pitchFamily="50" charset="0"/>
              </a:rPr>
              <a:t>en</a:t>
            </a:r>
            <a:r>
              <a:rPr lang="en-US" sz="800" b="1" dirty="0">
                <a:effectLst/>
                <a:latin typeface="Montserrat" panose="00000500000000000000" pitchFamily="50" charset="0"/>
              </a:rPr>
              <a:t> el Hogar</a:t>
            </a:r>
          </a:p>
          <a:p>
            <a:pPr marL="0" marR="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" dirty="0" err="1">
                <a:effectLst/>
                <a:latin typeface="Montserrat Light" panose="00000400000000000000" pitchFamily="50" charset="0"/>
              </a:rPr>
              <a:t>Diferenciador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: Supera la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concienciación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teórica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mediante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dos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retos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fijos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(</a:t>
            </a:r>
            <a:r>
              <a:rPr lang="en-US" sz="800" i="1" dirty="0">
                <a:effectLst/>
                <a:latin typeface="Montserrat Light" panose="00000400000000000000" pitchFamily="50" charset="0"/>
              </a:rPr>
              <a:t>«La </a:t>
            </a:r>
            <a:r>
              <a:rPr lang="en-US" sz="800" i="1" dirty="0" err="1">
                <a:effectLst/>
                <a:latin typeface="Montserrat Light" panose="00000400000000000000" pitchFamily="50" charset="0"/>
              </a:rPr>
              <a:t>ducha</a:t>
            </a:r>
            <a:r>
              <a:rPr lang="en-US" sz="800" i="1" dirty="0">
                <a:effectLst/>
                <a:latin typeface="Montserrat Light" panose="00000400000000000000" pitchFamily="50" charset="0"/>
              </a:rPr>
              <a:t> de </a:t>
            </a:r>
            <a:r>
              <a:rPr lang="en-US" sz="800" i="1" dirty="0" err="1">
                <a:effectLst/>
                <a:latin typeface="Montserrat Light" panose="00000400000000000000" pitchFamily="50" charset="0"/>
              </a:rPr>
              <a:t>una</a:t>
            </a:r>
            <a:r>
              <a:rPr lang="en-US" sz="800" i="1" dirty="0">
                <a:effectLst/>
                <a:latin typeface="Montserrat Light" panose="00000400000000000000" pitchFamily="50" charset="0"/>
              </a:rPr>
              <a:t> canción»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y </a:t>
            </a:r>
            <a:r>
              <a:rPr lang="en-US" sz="800" i="1" dirty="0">
                <a:effectLst/>
                <a:latin typeface="Montserrat Light" panose="00000400000000000000" pitchFamily="50" charset="0"/>
              </a:rPr>
              <a:t>«La hora del 92»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) y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mide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el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impacto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real con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los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recibos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de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agua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y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energía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de las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familias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participantes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. </a:t>
            </a:r>
          </a:p>
          <a:p>
            <a:pPr marR="0">
              <a:lnSpc>
                <a:spcPct val="90000"/>
              </a:lnSpc>
              <a:spcAft>
                <a:spcPts val="600"/>
              </a:spcAft>
            </a:pPr>
            <a:r>
              <a:rPr lang="en-US" sz="800" dirty="0">
                <a:effectLst/>
                <a:latin typeface="Montserrat Light" panose="00000400000000000000" pitchFamily="50" charset="0"/>
              </a:rPr>
              <a:t>4.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Narrativa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Transmedia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Orgánica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y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Accesible</a:t>
            </a:r>
            <a:endParaRPr lang="en-US" sz="800" dirty="0">
              <a:effectLst/>
              <a:latin typeface="Montserrat Light" panose="00000400000000000000" pitchFamily="50" charset="0"/>
            </a:endParaRPr>
          </a:p>
          <a:p>
            <a:pPr marL="0" marR="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" dirty="0" err="1">
                <a:effectLst/>
                <a:latin typeface="Montserrat Light" panose="00000400000000000000" pitchFamily="50" charset="0"/>
              </a:rPr>
              <a:t>Diferenciador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: Cada canal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cumple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una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función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800" dirty="0" err="1">
                <a:effectLst/>
                <a:latin typeface="Montserrat Light" panose="00000400000000000000" pitchFamily="50" charset="0"/>
              </a:rPr>
              <a:t>narrativa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 natural (</a:t>
            </a:r>
            <a:r>
              <a:rPr lang="en-US" sz="800" i="1" dirty="0" err="1">
                <a:effectLst/>
                <a:latin typeface="Montserrat Light" panose="00000400000000000000" pitchFamily="50" charset="0"/>
              </a:rPr>
              <a:t>Explorar</a:t>
            </a:r>
            <a:r>
              <a:rPr lang="en-US" sz="800" i="1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800" i="1" dirty="0" err="1">
                <a:effectLst/>
                <a:latin typeface="Montserrat Light" panose="00000400000000000000" pitchFamily="50" charset="0"/>
              </a:rPr>
              <a:t>en</a:t>
            </a:r>
            <a:r>
              <a:rPr lang="en-US" sz="800" i="1" dirty="0">
                <a:effectLst/>
                <a:latin typeface="Montserrat Light" panose="00000400000000000000" pitchFamily="50" charset="0"/>
              </a:rPr>
              <a:t> Web, </a:t>
            </a:r>
            <a:r>
              <a:rPr lang="en-US" sz="800" i="1" dirty="0" err="1">
                <a:effectLst/>
                <a:latin typeface="Montserrat Light" panose="00000400000000000000" pitchFamily="50" charset="0"/>
              </a:rPr>
              <a:t>Escuchar</a:t>
            </a:r>
            <a:r>
              <a:rPr lang="en-US" sz="800" i="1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800" i="1" dirty="0" err="1">
                <a:effectLst/>
                <a:latin typeface="Montserrat Light" panose="00000400000000000000" pitchFamily="50" charset="0"/>
              </a:rPr>
              <a:t>en</a:t>
            </a:r>
            <a:r>
              <a:rPr lang="en-US" sz="800" i="1" dirty="0">
                <a:effectLst/>
                <a:latin typeface="Montserrat Light" panose="00000400000000000000" pitchFamily="50" charset="0"/>
              </a:rPr>
              <a:t> Spotify, Ver </a:t>
            </a:r>
            <a:r>
              <a:rPr lang="en-US" sz="800" i="1" dirty="0" err="1">
                <a:effectLst/>
                <a:latin typeface="Montserrat Light" panose="00000400000000000000" pitchFamily="50" charset="0"/>
              </a:rPr>
              <a:t>en</a:t>
            </a:r>
            <a:r>
              <a:rPr lang="en-US" sz="800" i="1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800" i="1" dirty="0" err="1">
                <a:effectLst/>
                <a:latin typeface="Montserrat Light" panose="00000400000000000000" pitchFamily="50" charset="0"/>
              </a:rPr>
              <a:t>Cómic</a:t>
            </a:r>
            <a:r>
              <a:rPr lang="en-US" sz="800" i="1" dirty="0">
                <a:effectLst/>
                <a:latin typeface="Montserrat Light" panose="00000400000000000000" pitchFamily="50" charset="0"/>
              </a:rPr>
              <a:t>, </a:t>
            </a:r>
            <a:r>
              <a:rPr lang="en-US" sz="800" i="1" dirty="0" err="1">
                <a:effectLst/>
                <a:latin typeface="Montserrat Light" panose="00000400000000000000" pitchFamily="50" charset="0"/>
              </a:rPr>
              <a:t>Participar</a:t>
            </a:r>
            <a:r>
              <a:rPr lang="en-US" sz="800" i="1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800" i="1" dirty="0" err="1">
                <a:effectLst/>
                <a:latin typeface="Montserrat Light" panose="00000400000000000000" pitchFamily="50" charset="0"/>
              </a:rPr>
              <a:t>en</a:t>
            </a:r>
            <a:r>
              <a:rPr lang="en-US" sz="800" i="1" dirty="0">
                <a:effectLst/>
                <a:latin typeface="Montserrat Light" panose="00000400000000000000" pitchFamily="50" charset="0"/>
              </a:rPr>
              <a:t> WhatsApp y </a:t>
            </a:r>
            <a:r>
              <a:rPr lang="en-US" sz="800" i="1" dirty="0" err="1">
                <a:effectLst/>
                <a:latin typeface="Montserrat Light" panose="00000400000000000000" pitchFamily="50" charset="0"/>
              </a:rPr>
              <a:t>Contagiar</a:t>
            </a:r>
            <a:r>
              <a:rPr lang="en-US" sz="800" i="1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800" i="1" dirty="0" err="1">
                <a:effectLst/>
                <a:latin typeface="Montserrat Light" panose="00000400000000000000" pitchFamily="50" charset="0"/>
              </a:rPr>
              <a:t>en</a:t>
            </a:r>
            <a:r>
              <a:rPr lang="en-US" sz="800" i="1" dirty="0">
                <a:effectLst/>
                <a:latin typeface="Montserrat Light" panose="00000400000000000000" pitchFamily="50" charset="0"/>
              </a:rPr>
              <a:t> TikTok</a:t>
            </a:r>
            <a:r>
              <a:rPr lang="en-US" sz="800" dirty="0">
                <a:effectLst/>
                <a:latin typeface="Montserrat Light" panose="00000400000000000000" pitchFamily="50" charset="0"/>
              </a:rPr>
              <a:t>), </a:t>
            </a:r>
          </a:p>
        </p:txBody>
      </p:sp>
    </p:spTree>
    <p:extLst>
      <p:ext uri="{BB962C8B-B14F-4D97-AF65-F5344CB8AC3E}">
        <p14:creationId xmlns:p14="http://schemas.microsoft.com/office/powerpoint/2010/main" val="905221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6B5EB38-E68C-E450-0FF3-6F37F594F359}"/>
              </a:ext>
            </a:extLst>
          </p:cNvPr>
          <p:cNvSpPr txBox="1"/>
          <p:nvPr/>
        </p:nvSpPr>
        <p:spPr>
          <a:xfrm>
            <a:off x="630936" y="640080"/>
            <a:ext cx="4818888" cy="1481328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 dirty="0">
                <a:solidFill>
                  <a:schemeClr val="tx1"/>
                </a:solidFill>
                <a:latin typeface="Montserrat" panose="00000500000000000000" pitchFamily="50" charset="0"/>
                <a:ea typeface="+mj-ea"/>
                <a:cs typeface="+mj-cs"/>
              </a:rPr>
              <a:t>Estado Actual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911BF10-A7CB-EA06-4F74-37AA8657F907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R="0" lvl="0">
              <a:lnSpc>
                <a:spcPct val="90000"/>
              </a:lnSpc>
              <a:spcAft>
                <a:spcPts val="600"/>
              </a:spcAft>
            </a:pPr>
            <a:r>
              <a:rPr lang="en-US" sz="1900" b="1" dirty="0" err="1">
                <a:effectLst/>
                <a:latin typeface="Montserrat" panose="00000500000000000000" pitchFamily="50" charset="0"/>
              </a:rPr>
              <a:t>Investigación</a:t>
            </a:r>
            <a:r>
              <a:rPr lang="en-US" sz="1900" b="1" dirty="0">
                <a:effectLst/>
                <a:latin typeface="Montserrat" panose="00000500000000000000" pitchFamily="50" charset="0"/>
              </a:rPr>
              <a:t> y Datos</a:t>
            </a:r>
            <a:r>
              <a:rPr lang="en-US" sz="1900" dirty="0">
                <a:effectLst/>
                <a:latin typeface="Montserrat Light" panose="00000400000000000000" pitchFamily="50" charset="0"/>
              </a:rPr>
              <a:t>: </a:t>
            </a:r>
            <a:r>
              <a:rPr lang="en-US" sz="1900" dirty="0" err="1">
                <a:effectLst/>
                <a:latin typeface="Montserrat Light" panose="00000400000000000000" pitchFamily="50" charset="0"/>
              </a:rPr>
              <a:t>Ficha</a:t>
            </a:r>
            <a:r>
              <a:rPr lang="en-US" sz="1900" dirty="0">
                <a:effectLst/>
                <a:latin typeface="Montserrat Light" panose="00000400000000000000" pitchFamily="50" charset="0"/>
              </a:rPr>
              <a:t> de </a:t>
            </a:r>
            <a:r>
              <a:rPr lang="en-US" sz="1900" dirty="0" err="1">
                <a:effectLst/>
                <a:latin typeface="Montserrat Light" panose="00000400000000000000" pitchFamily="50" charset="0"/>
              </a:rPr>
              <a:t>investigación</a:t>
            </a:r>
            <a:r>
              <a:rPr lang="en-US" sz="1900" dirty="0">
                <a:effectLst/>
                <a:latin typeface="Montserrat Light" panose="00000400000000000000" pitchFamily="50" charset="0"/>
              </a:rPr>
              <a:t> con </a:t>
            </a:r>
            <a:r>
              <a:rPr lang="en-US" sz="1900" dirty="0" err="1">
                <a:effectLst/>
                <a:latin typeface="Montserrat Light" panose="00000400000000000000" pitchFamily="50" charset="0"/>
              </a:rPr>
              <a:t>fuentes</a:t>
            </a:r>
            <a:r>
              <a:rPr lang="en-US" sz="19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900" dirty="0" err="1">
                <a:effectLst/>
                <a:latin typeface="Montserrat Light" panose="00000400000000000000" pitchFamily="50" charset="0"/>
              </a:rPr>
              <a:t>oficiales</a:t>
            </a:r>
            <a:r>
              <a:rPr lang="en-US" sz="1900" dirty="0">
                <a:effectLst/>
                <a:latin typeface="Montserrat Light" panose="00000400000000000000" pitchFamily="50" charset="0"/>
              </a:rPr>
              <a:t> (IDEAM, </a:t>
            </a:r>
            <a:r>
              <a:rPr lang="en-US" sz="1900" dirty="0" err="1">
                <a:effectLst/>
                <a:latin typeface="Montserrat Light" panose="00000400000000000000" pitchFamily="50" charset="0"/>
              </a:rPr>
              <a:t>Corpoboyacá</a:t>
            </a:r>
            <a:r>
              <a:rPr lang="en-US" sz="1900" dirty="0">
                <a:effectLst/>
                <a:latin typeface="Montserrat Light" panose="00000400000000000000" pitchFamily="50" charset="0"/>
              </a:rPr>
              <a:t>, </a:t>
            </a:r>
            <a:r>
              <a:rPr lang="en-US" sz="1900" dirty="0" err="1">
                <a:effectLst/>
                <a:latin typeface="Montserrat Light" panose="00000400000000000000" pitchFamily="50" charset="0"/>
              </a:rPr>
              <a:t>MinAmbiente</a:t>
            </a:r>
            <a:r>
              <a:rPr lang="en-US" sz="1900" dirty="0">
                <a:effectLst/>
                <a:latin typeface="Montserrat Light" panose="00000400000000000000" pitchFamily="50" charset="0"/>
              </a:rPr>
              <a:t>) </a:t>
            </a:r>
            <a:r>
              <a:rPr lang="en-US" sz="1900" dirty="0" err="1">
                <a:effectLst/>
                <a:latin typeface="Montserrat Light" panose="00000400000000000000" pitchFamily="50" charset="0"/>
              </a:rPr>
              <a:t>consolidada</a:t>
            </a:r>
            <a:r>
              <a:rPr lang="en-US" sz="1900" dirty="0">
                <a:effectLst/>
                <a:latin typeface="Montserrat Light" panose="00000400000000000000" pitchFamily="50" charset="0"/>
              </a:rPr>
              <a:t>. </a:t>
            </a:r>
          </a:p>
          <a:p>
            <a:pPr marR="0" lvl="0">
              <a:lnSpc>
                <a:spcPct val="90000"/>
              </a:lnSpc>
              <a:spcAft>
                <a:spcPts val="600"/>
              </a:spcAft>
            </a:pPr>
            <a:r>
              <a:rPr lang="en-US" sz="1900" b="1" dirty="0" err="1">
                <a:effectLst/>
                <a:latin typeface="Montserrat" panose="00000500000000000000" pitchFamily="50" charset="0"/>
              </a:rPr>
              <a:t>Prototipos</a:t>
            </a:r>
            <a:r>
              <a:rPr lang="en-US" sz="1900" b="1" dirty="0">
                <a:effectLst/>
                <a:latin typeface="Montserrat" panose="00000500000000000000" pitchFamily="50" charset="0"/>
              </a:rPr>
              <a:t> </a:t>
            </a:r>
            <a:r>
              <a:rPr lang="en-US" sz="1900" b="1" dirty="0" err="1">
                <a:effectLst/>
                <a:latin typeface="Montserrat" panose="00000500000000000000" pitchFamily="50" charset="0"/>
              </a:rPr>
              <a:t>Listos</a:t>
            </a:r>
            <a:r>
              <a:rPr lang="en-US" sz="1900" b="1" dirty="0">
                <a:effectLst/>
                <a:latin typeface="Montserrat" panose="00000500000000000000" pitchFamily="50" charset="0"/>
              </a:rPr>
              <a:t>:</a:t>
            </a:r>
          </a:p>
          <a:p>
            <a:pPr marL="0" marR="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 err="1">
                <a:effectLst/>
                <a:latin typeface="Montserrat Light" panose="00000400000000000000" pitchFamily="50" charset="0"/>
              </a:rPr>
              <a:t>Estructura</a:t>
            </a:r>
            <a:r>
              <a:rPr lang="en-US" sz="1900" dirty="0">
                <a:effectLst/>
                <a:latin typeface="Montserrat Light" panose="00000400000000000000" pitchFamily="50" charset="0"/>
              </a:rPr>
              <a:t> del </a:t>
            </a:r>
            <a:r>
              <a:rPr lang="en-US" sz="1900" i="1" dirty="0">
                <a:effectLst/>
                <a:latin typeface="Montserrat Light" panose="00000400000000000000" pitchFamily="50" charset="0"/>
              </a:rPr>
              <a:t>framework web</a:t>
            </a:r>
            <a:r>
              <a:rPr lang="en-US" sz="1900" dirty="0">
                <a:effectLst/>
                <a:latin typeface="Montserrat Light" panose="00000400000000000000" pitchFamily="50" charset="0"/>
              </a:rPr>
              <a:t> (Mapa Sonoro + </a:t>
            </a:r>
            <a:r>
              <a:rPr lang="en-US" sz="1900" dirty="0" err="1">
                <a:effectLst/>
                <a:latin typeface="Montserrat Light" panose="00000400000000000000" pitchFamily="50" charset="0"/>
              </a:rPr>
              <a:t>reproductor</a:t>
            </a:r>
            <a:r>
              <a:rPr lang="en-US" sz="19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900" dirty="0" err="1">
                <a:effectLst/>
                <a:latin typeface="Montserrat Light" panose="00000400000000000000" pitchFamily="50" charset="0"/>
              </a:rPr>
              <a:t>en</a:t>
            </a:r>
            <a:r>
              <a:rPr lang="en-US" sz="1900" dirty="0">
                <a:effectLst/>
                <a:latin typeface="Montserrat Light" panose="00000400000000000000" pitchFamily="50" charset="0"/>
              </a:rPr>
              <a:t> JavaScript) </a:t>
            </a:r>
            <a:r>
              <a:rPr lang="en-US" sz="1900" dirty="0" err="1">
                <a:effectLst/>
                <a:latin typeface="Montserrat Light" panose="00000400000000000000" pitchFamily="50" charset="0"/>
              </a:rPr>
              <a:t>definida</a:t>
            </a:r>
            <a:r>
              <a:rPr lang="en-US" sz="1900" dirty="0">
                <a:effectLst/>
                <a:latin typeface="Montserrat Light" panose="00000400000000000000" pitchFamily="50" charset="0"/>
              </a:rPr>
              <a:t>. </a:t>
            </a:r>
          </a:p>
          <a:p>
            <a:pPr marL="0" marR="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 err="1">
                <a:effectLst/>
                <a:latin typeface="Montserrat Light" panose="00000400000000000000" pitchFamily="50" charset="0"/>
              </a:rPr>
              <a:t>Guías</a:t>
            </a:r>
            <a:r>
              <a:rPr lang="en-US" sz="1900" dirty="0">
                <a:effectLst/>
                <a:latin typeface="Montserrat Light" panose="00000400000000000000" pitchFamily="50" charset="0"/>
              </a:rPr>
              <a:t> de </a:t>
            </a:r>
            <a:r>
              <a:rPr lang="en-US" sz="1900" dirty="0" err="1">
                <a:effectLst/>
                <a:latin typeface="Montserrat Light" panose="00000400000000000000" pitchFamily="50" charset="0"/>
              </a:rPr>
              <a:t>entrevista</a:t>
            </a:r>
            <a:r>
              <a:rPr lang="en-US" sz="1900" dirty="0">
                <a:effectLst/>
                <a:latin typeface="Montserrat Light" panose="00000400000000000000" pitchFamily="50" charset="0"/>
              </a:rPr>
              <a:t> y </a:t>
            </a:r>
            <a:r>
              <a:rPr lang="en-US" sz="1900" dirty="0" err="1">
                <a:effectLst/>
                <a:latin typeface="Montserrat Light" panose="00000400000000000000" pitchFamily="50" charset="0"/>
              </a:rPr>
              <a:t>permisos</a:t>
            </a:r>
            <a:r>
              <a:rPr lang="en-US" sz="1900" dirty="0">
                <a:effectLst/>
                <a:latin typeface="Montserrat Light" panose="00000400000000000000" pitchFamily="50" charset="0"/>
              </a:rPr>
              <a:t> de </a:t>
            </a:r>
            <a:r>
              <a:rPr lang="en-US" sz="1900" dirty="0" err="1">
                <a:effectLst/>
                <a:latin typeface="Montserrat Light" panose="00000400000000000000" pitchFamily="50" charset="0"/>
              </a:rPr>
              <a:t>privacidad</a:t>
            </a:r>
            <a:r>
              <a:rPr lang="en-US" sz="19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900" dirty="0" err="1">
                <a:effectLst/>
                <a:latin typeface="Montserrat Light" panose="00000400000000000000" pitchFamily="50" charset="0"/>
              </a:rPr>
              <a:t>diseñados</a:t>
            </a:r>
            <a:r>
              <a:rPr lang="en-US" sz="1900" dirty="0">
                <a:effectLst/>
                <a:latin typeface="Montserrat Light" panose="00000400000000000000" pitchFamily="50" charset="0"/>
              </a:rPr>
              <a:t>. </a:t>
            </a:r>
          </a:p>
          <a:p>
            <a:pPr marL="0" marR="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 err="1">
                <a:effectLst/>
                <a:latin typeface="Montserrat Light" panose="00000400000000000000" pitchFamily="50" charset="0"/>
              </a:rPr>
              <a:t>Prueba</a:t>
            </a:r>
            <a:r>
              <a:rPr lang="en-US" sz="1900" dirty="0">
                <a:effectLst/>
                <a:latin typeface="Montserrat Light" panose="00000400000000000000" pitchFamily="50" charset="0"/>
              </a:rPr>
              <a:t> Piloto: Primera </a:t>
            </a:r>
            <a:r>
              <a:rPr lang="en-US" sz="1900" dirty="0" err="1">
                <a:effectLst/>
                <a:latin typeface="Montserrat Light" panose="00000400000000000000" pitchFamily="50" charset="0"/>
              </a:rPr>
              <a:t>entrevista</a:t>
            </a:r>
            <a:r>
              <a:rPr lang="en-US" sz="1900" dirty="0">
                <a:effectLst/>
                <a:latin typeface="Montserrat Light" panose="00000400000000000000" pitchFamily="50" charset="0"/>
              </a:rPr>
              <a:t> real </a:t>
            </a:r>
            <a:r>
              <a:rPr lang="en-US" sz="1900" dirty="0" err="1">
                <a:effectLst/>
                <a:latin typeface="Montserrat Light" panose="00000400000000000000" pitchFamily="50" charset="0"/>
              </a:rPr>
              <a:t>grabada</a:t>
            </a:r>
            <a:r>
              <a:rPr lang="en-US" sz="1900" dirty="0">
                <a:effectLst/>
                <a:latin typeface="Montserrat Light" panose="00000400000000000000" pitchFamily="50" charset="0"/>
              </a:rPr>
              <a:t> e </a:t>
            </a:r>
            <a:r>
              <a:rPr lang="en-US" sz="1900" dirty="0" err="1">
                <a:effectLst/>
                <a:latin typeface="Montserrat Light" panose="00000400000000000000" pitchFamily="50" charset="0"/>
              </a:rPr>
              <a:t>historieta</a:t>
            </a:r>
            <a:r>
              <a:rPr lang="en-US" sz="19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900" dirty="0" err="1">
                <a:effectLst/>
                <a:latin typeface="Montserrat Light" panose="00000400000000000000" pitchFamily="50" charset="0"/>
              </a:rPr>
              <a:t>ilustrada</a:t>
            </a:r>
            <a:r>
              <a:rPr lang="en-US" sz="1900" dirty="0">
                <a:effectLst/>
                <a:latin typeface="Montserrat Light" panose="00000400000000000000" pitchFamily="50" charset="0"/>
              </a:rPr>
              <a:t> </a:t>
            </a:r>
            <a:r>
              <a:rPr lang="en-US" sz="1900" dirty="0" err="1">
                <a:effectLst/>
                <a:latin typeface="Montserrat Light" panose="00000400000000000000" pitchFamily="50" charset="0"/>
              </a:rPr>
              <a:t>en</a:t>
            </a:r>
            <a:r>
              <a:rPr lang="en-US" sz="1900" dirty="0">
                <a:effectLst/>
                <a:latin typeface="Montserrat Light" panose="00000400000000000000" pitchFamily="50" charset="0"/>
              </a:rPr>
              <a:t> storyboard </a:t>
            </a:r>
            <a:r>
              <a:rPr lang="en-US" sz="1900" dirty="0" err="1">
                <a:effectLst/>
                <a:latin typeface="Montserrat Light" panose="00000400000000000000" pitchFamily="50" charset="0"/>
              </a:rPr>
              <a:t>lista</a:t>
            </a:r>
            <a:r>
              <a:rPr lang="en-US" sz="1900" dirty="0">
                <a:effectLst/>
                <a:latin typeface="Montserrat Light" panose="00000400000000000000" pitchFamily="50" charset="0"/>
              </a:rPr>
              <a:t>.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10DB6B9-C2F7-77F5-BF83-5C025CDC9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514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9558EC2-DA46-331B-2969-5E9F73015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 fontScale="90000"/>
          </a:bodyPr>
          <a:lstStyle/>
          <a:p>
            <a:r>
              <a:rPr lang="es-CO" sz="4200" dirty="0">
                <a:latin typeface="Montserrat" panose="00000500000000000000" pitchFamily="50" charset="0"/>
              </a:rPr>
              <a:t>Respaldos, Alianzas y Sostenibilidad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E8DAD56-3BDD-DFA9-746A-71B22091B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706349"/>
            <a:ext cx="5458968" cy="5445301"/>
          </a:xfrm>
          <a:prstGeom prst="rect">
            <a:avLst/>
          </a:pr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51881F-96CE-8568-D32F-C88CF01F9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>
            <a:normAutofit/>
          </a:bodyPr>
          <a:lstStyle/>
          <a:p>
            <a:pPr lvl="0"/>
            <a:r>
              <a:rPr lang="es-CO" sz="1700" b="1" dirty="0">
                <a:latin typeface="Montserrat" panose="00000500000000000000" pitchFamily="50" charset="0"/>
              </a:rPr>
              <a:t>Colegio Gonzalo Suárez Rendón (Tunja): </a:t>
            </a:r>
            <a:r>
              <a:rPr lang="es-CO" sz="1700" dirty="0">
                <a:latin typeface="Montserrat Light" panose="00000400000000000000" pitchFamily="50" charset="0"/>
              </a:rPr>
              <a:t>Interés manifestado por escrito para ejecutar el piloto. </a:t>
            </a:r>
          </a:p>
          <a:p>
            <a:pPr lvl="0"/>
            <a:r>
              <a:rPr lang="es-CO" sz="1700" b="1" dirty="0">
                <a:latin typeface="Montserrat" panose="00000500000000000000" pitchFamily="50" charset="0"/>
              </a:rPr>
              <a:t>Proyecto Ambiental Escolar (PRAE): </a:t>
            </a:r>
            <a:r>
              <a:rPr lang="es-CO" sz="1700" dirty="0">
                <a:latin typeface="Montserrat Light" panose="00000400000000000000" pitchFamily="50" charset="0"/>
              </a:rPr>
              <a:t>Articulación institucional directa con el plan ambiental del colegio. </a:t>
            </a:r>
          </a:p>
          <a:p>
            <a:pPr lvl="0"/>
            <a:r>
              <a:rPr lang="es-CO" sz="1700" b="1" dirty="0">
                <a:latin typeface="Montserrat" panose="00000500000000000000" pitchFamily="50" charset="0"/>
              </a:rPr>
              <a:t>Fuentes Oficiales: </a:t>
            </a:r>
            <a:r>
              <a:rPr lang="es-CO" sz="1700" dirty="0">
                <a:latin typeface="Montserrat Light" panose="00000400000000000000" pitchFamily="50" charset="0"/>
              </a:rPr>
              <a:t>Cifras respaldadas por el IDEAM, Corpoboyacá, UNGRD y prestadores de servicios. </a:t>
            </a:r>
          </a:p>
          <a:p>
            <a:pPr lvl="0"/>
            <a:r>
              <a:rPr lang="es-CO" sz="1700" b="1" dirty="0">
                <a:latin typeface="Montserrat" panose="00000500000000000000" pitchFamily="50" charset="0"/>
              </a:rPr>
              <a:t>Sostenibilidad 2027: </a:t>
            </a:r>
            <a:r>
              <a:rPr lang="es-CO" sz="1700" dirty="0">
                <a:latin typeface="Montserrat Light" panose="00000400000000000000" pitchFamily="50" charset="0"/>
              </a:rPr>
              <a:t>Proyección para sostener la propuesta como horas de servicio social obligatorio escolar. </a:t>
            </a:r>
          </a:p>
          <a:p>
            <a:endParaRPr lang="es-CO" sz="1700" dirty="0"/>
          </a:p>
        </p:txBody>
      </p:sp>
    </p:spTree>
    <p:extLst>
      <p:ext uri="{BB962C8B-B14F-4D97-AF65-F5344CB8AC3E}">
        <p14:creationId xmlns:p14="http://schemas.microsoft.com/office/powerpoint/2010/main" val="3047160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4E8590-B1F4-96DC-D720-B2FD55557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s-CO" sz="4000" b="1" dirty="0">
                <a:latin typeface="Montserrat" panose="00000500000000000000" pitchFamily="50" charset="0"/>
              </a:rPr>
              <a:t>El llamado a la acción</a:t>
            </a:r>
            <a:r>
              <a:rPr lang="es-CO" sz="4000" dirty="0"/>
              <a:t>	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AE6B4C-30FB-42F1-4D04-9AD11AD3D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9" y="2071692"/>
            <a:ext cx="6002110" cy="372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1600" b="1" dirty="0">
                <a:latin typeface="Montserrat" panose="00000500000000000000" pitchFamily="50" charset="0"/>
              </a:rPr>
              <a:t>Unámonos al cambio hoy mismo</a:t>
            </a:r>
          </a:p>
          <a:p>
            <a:pPr marL="0" lvl="0" indent="0">
              <a:buNone/>
            </a:pPr>
            <a:r>
              <a:rPr lang="es-CO" sz="1600" dirty="0">
                <a:latin typeface="Montserrat Light" panose="00000400000000000000" pitchFamily="50" charset="0"/>
              </a:rPr>
              <a:t>Una pregunta para esta noche:</a:t>
            </a:r>
          </a:p>
          <a:p>
            <a:pPr marL="0" lvl="0" indent="0">
              <a:buNone/>
            </a:pPr>
            <a:r>
              <a:rPr lang="es-CO" sz="1600" i="1" dirty="0">
                <a:latin typeface="Montserrat Light" panose="00000400000000000000" pitchFamily="50" charset="0"/>
              </a:rPr>
              <a:t>«Pregúntale a alguien de tu familia cómo vivió el apagón del 92.»</a:t>
            </a:r>
            <a:endParaRPr lang="es-CO" sz="1600" dirty="0">
              <a:latin typeface="Montserrat Light" panose="00000400000000000000" pitchFamily="50" charset="0"/>
            </a:endParaRPr>
          </a:p>
          <a:p>
            <a:pPr marL="0" lvl="0" indent="0">
              <a:buNone/>
            </a:pPr>
            <a:r>
              <a:rPr lang="es-CO" sz="1600" dirty="0">
                <a:latin typeface="Montserrat Light" panose="00000400000000000000" pitchFamily="50" charset="0"/>
              </a:rPr>
              <a:t>Un reto para mañana:</a:t>
            </a:r>
          </a:p>
          <a:p>
            <a:pPr marL="0" lvl="0" indent="0">
              <a:buNone/>
            </a:pPr>
            <a:r>
              <a:rPr lang="es-CO" sz="1600" i="1" dirty="0">
                <a:latin typeface="Montserrat Light" panose="00000400000000000000" pitchFamily="50" charset="0"/>
              </a:rPr>
              <a:t>«Báñate en lo que dura una canción. Podrías ahorrar más de 60 litros de agua en una sola ducha.»</a:t>
            </a:r>
            <a:endParaRPr lang="es-CO" sz="1600" dirty="0">
              <a:latin typeface="Montserrat Light" panose="00000400000000000000" pitchFamily="50" charset="0"/>
            </a:endParaRPr>
          </a:p>
          <a:p>
            <a:pPr marL="0" indent="0">
              <a:buNone/>
            </a:pPr>
            <a:r>
              <a:rPr lang="es-CO" sz="1600" b="1" dirty="0">
                <a:latin typeface="Montserrat" panose="00000500000000000000" pitchFamily="50" charset="0"/>
              </a:rPr>
              <a:t>«Hoy El Niño volvió, y esa memoria vale más que nunca. Los invitamos a sumarse a </a:t>
            </a:r>
            <a:r>
              <a:rPr lang="es-CO" sz="1600" b="1" i="1" dirty="0">
                <a:latin typeface="Montserrat" panose="00000500000000000000" pitchFamily="50" charset="0"/>
              </a:rPr>
              <a:t>El agua que se hereda</a:t>
            </a:r>
            <a:r>
              <a:rPr lang="es-CO" sz="1600" b="1" dirty="0">
                <a:latin typeface="Montserrat" panose="00000500000000000000" pitchFamily="50" charset="0"/>
              </a:rPr>
              <a:t>, porque lo que una generación aprendió, la siguiente lo puede heredar.»</a:t>
            </a:r>
          </a:p>
          <a:p>
            <a:endParaRPr lang="es-CO" sz="1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2A7D2E8-2DB0-B8F5-D151-AF2B98C27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70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302358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1007</Words>
  <Application>Microsoft Office PowerPoint</Application>
  <PresentationFormat>Panorámica</PresentationFormat>
  <Paragraphs>52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Montserrat</vt:lpstr>
      <vt:lpstr>Montserrat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Respaldos, Alianzas y Sostenibilidad</vt:lpstr>
      <vt:lpstr>El llamado a la acción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CAMILO LEGUIZAMON RUEDA</dc:creator>
  <cp:lastModifiedBy>JULIAN CAMILO LEGUIZAMON RUEDA</cp:lastModifiedBy>
  <cp:revision>2</cp:revision>
  <dcterms:created xsi:type="dcterms:W3CDTF">2026-10-09T15:06:22Z</dcterms:created>
  <dcterms:modified xsi:type="dcterms:W3CDTF">2026-10-09T16:06:08Z</dcterms:modified>
</cp:coreProperties>
</file>